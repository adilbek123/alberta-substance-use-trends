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377440"/>
            <a:ext cx="10698480" cy="1097280"/>
          </a:xfrm>
          <a:prstGeom prst="rect">
            <a:avLst/>
          </a:prstGeom>
          <a:noFill/>
        </p:spPr>
        <p:txBody>
          <a:bodyPr wrap="none">
            <a:spAutoFit/>
          </a:bodyPr>
          <a:lstStyle/>
          <a:p>
            <a:r>
              <a:rPr sz="3400" b="1">
                <a:solidFill>
                  <a:srgbClr val="000000"/>
                </a:solidFill>
                <a:latin typeface="Calibri"/>
              </a:rPr>
              <a:t>Alberta Opioid Mortality Around the COVID-19 Onset</a:t>
            </a:r>
          </a:p>
        </p:txBody>
      </p:sp>
      <p:sp>
        <p:nvSpPr>
          <p:cNvPr id="3" name="TextBox 2"/>
          <p:cNvSpPr txBox="1"/>
          <p:nvPr/>
        </p:nvSpPr>
        <p:spPr>
          <a:xfrm>
            <a:off x="731520" y="3474720"/>
            <a:ext cx="10698480" cy="457200"/>
          </a:xfrm>
          <a:prstGeom prst="rect">
            <a:avLst/>
          </a:prstGeom>
          <a:noFill/>
        </p:spPr>
        <p:txBody>
          <a:bodyPr wrap="none">
            <a:spAutoFit/>
          </a:bodyPr>
          <a:lstStyle/>
          <a:p>
            <a:r>
              <a:rPr sz="1800">
                <a:solidFill>
                  <a:srgbClr val="555555"/>
                </a:solidFill>
                <a:latin typeface="Calibri"/>
              </a:rPr>
              <a:t>Interrupted Time Series Analysis Using Federal Data</a:t>
            </a:r>
          </a:p>
        </p:txBody>
      </p:sp>
      <p:sp>
        <p:nvSpPr>
          <p:cNvPr id="4" name="TextBox 3"/>
          <p:cNvSpPr txBox="1"/>
          <p:nvPr/>
        </p:nvSpPr>
        <p:spPr>
          <a:xfrm>
            <a:off x="731520" y="4572000"/>
            <a:ext cx="10698480" cy="1463040"/>
          </a:xfrm>
          <a:prstGeom prst="rect">
            <a:avLst/>
          </a:prstGeom>
          <a:noFill/>
        </p:spPr>
        <p:txBody>
          <a:bodyPr wrap="none">
            <a:spAutoFit/>
          </a:bodyPr>
          <a:lstStyle/>
          <a:p>
            <a:r>
              <a:rPr sz="1400">
                <a:solidFill>
                  <a:srgbClr val="000000"/>
                </a:solidFill>
                <a:latin typeface="Calibri"/>
              </a:rPr>
              <a:t>Adilbek Sultanov</a:t>
            </a:r>
          </a:p>
          <a:p>
            <a:r>
              <a:rPr sz="1200">
                <a:solidFill>
                  <a:srgbClr val="555555"/>
                </a:solidFill>
                <a:latin typeface="Calibri"/>
              </a:rPr>
              <a:t>Independent project, May 2026</a:t>
            </a:r>
          </a:p>
          <a:p>
            <a:r>
              <a:rPr sz="1100">
                <a:solidFill>
                  <a:srgbClr val="555555"/>
                </a:solidFill>
                <a:latin typeface="Calibri"/>
              </a:rPr>
              <a:t>github.com/Adilbek123/alberta-substance-use-trends</a:t>
            </a:r>
          </a:p>
        </p:txBody>
      </p:sp>
      <p:sp>
        <p:nvSpPr>
          <p:cNvPr id="5" name="TextBox 4"/>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Issue</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371600"/>
            <a:ext cx="10972800" cy="4572000"/>
          </a:xfrm>
          <a:prstGeom prst="rect">
            <a:avLst/>
          </a:prstGeom>
          <a:noFill/>
        </p:spPr>
        <p:txBody>
          <a:bodyPr wrap="square">
            <a:spAutoFit/>
          </a:bodyPr>
          <a:lstStyle/>
          <a:p>
            <a:pPr/>
            <a:r>
              <a:rPr sz="1500">
                <a:solidFill>
                  <a:srgbClr val="1A1A1A"/>
                </a:solidFill>
                <a:latin typeface="Calibri"/>
              </a:rPr>
              <a:t>•  Opioid mortality in Alberta has risen sharply since the start of the COVID-19 pandemic, but the size and timing of the shift have not been quantified for this analysis at quarterly resolution.</a:t>
            </a:r>
          </a:p>
          <a:p>
            <a:pPr/>
            <a:r>
              <a:rPr sz="1500">
                <a:solidFill>
                  <a:srgbClr val="1A1A1A"/>
                </a:solidFill>
                <a:latin typeface="Calibri"/>
              </a:rPr>
              <a:t>•  Without a defensible measurement of the post-COVID baseline, performance under the Alberta Recovery Model cannot be evaluated against a meaningful counterfactual.</a:t>
            </a:r>
          </a:p>
          <a:p>
            <a:pPr/>
            <a:r>
              <a:rPr sz="1500">
                <a:solidFill>
                  <a:srgbClr val="1A1A1A"/>
                </a:solidFill>
                <a:latin typeface="Calibri"/>
              </a:rPr>
              <a:t>•  This analysis quantifies the level shift at the COVID onset using publicly available federal data, and tests whether the shift is statistically meaningful or could be explained by random variation in a noisy series.</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Purpose</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371600"/>
            <a:ext cx="10972800" cy="4572000"/>
          </a:xfrm>
          <a:prstGeom prst="rect">
            <a:avLst/>
          </a:prstGeom>
          <a:noFill/>
        </p:spPr>
        <p:txBody>
          <a:bodyPr wrap="square">
            <a:spAutoFit/>
          </a:bodyPr>
          <a:lstStyle/>
          <a:p>
            <a:pPr/>
            <a:r>
              <a:rPr sz="1400">
                <a:solidFill>
                  <a:srgbClr val="1A1A1A"/>
                </a:solidFill>
                <a:latin typeface="Calibri"/>
              </a:rPr>
              <a:t>•  Establish whether Alberta's opioid death rate shifted at the COVID-19 onset</a:t>
            </a:r>
          </a:p>
          <a:p>
            <a:pPr lvl="1"/>
            <a:r>
              <a:rPr sz="1100">
                <a:solidFill>
                  <a:srgbClr val="555555"/>
                </a:solidFill>
                <a:latin typeface="Calibri"/>
              </a:rPr>
              <a:t>–  Identify the size of the shift, if any</a:t>
            </a:r>
          </a:p>
          <a:p>
            <a:pPr lvl="1"/>
            <a:r>
              <a:rPr sz="1100">
                <a:solidFill>
                  <a:srgbClr val="555555"/>
                </a:solidFill>
                <a:latin typeface="Calibri"/>
              </a:rPr>
              <a:t>–  Test whether the shift is meaningfully larger than the natural noise in the data</a:t>
            </a:r>
          </a:p>
          <a:p>
            <a:pPr/>
            <a:r>
              <a:rPr sz="1400">
                <a:solidFill>
                  <a:srgbClr val="1A1A1A"/>
                </a:solidFill>
                <a:latin typeface="Calibri"/>
              </a:rPr>
              <a:t>•  Inform the post-COVID baseline used for Recovery Model performance measurement</a:t>
            </a:r>
          </a:p>
          <a:p>
            <a:pPr lvl="1"/>
            <a:r>
              <a:rPr sz="1100">
                <a:solidFill>
                  <a:srgbClr val="555555"/>
                </a:solidFill>
                <a:latin typeface="Calibri"/>
              </a:rPr>
              <a:t>–  The baseline before the pandemic is materially different from the baseline after</a:t>
            </a:r>
          </a:p>
          <a:p>
            <a:pPr lvl="1"/>
            <a:r>
              <a:rPr sz="1100">
                <a:solidFill>
                  <a:srgbClr val="555555"/>
                </a:solidFill>
                <a:latin typeface="Calibri"/>
              </a:rPr>
              <a:t>–  Any performance framing needs to be explicit about which baseline it compares to</a:t>
            </a:r>
          </a:p>
          <a:p>
            <a:pPr/>
            <a:r>
              <a:rPr sz="1400">
                <a:solidFill>
                  <a:srgbClr val="1A1A1A"/>
                </a:solidFill>
                <a:latin typeface="Calibri"/>
              </a:rPr>
              <a:t>•  Demonstrate an analytical approach the Ministry's Business Intelligence team could apply to other indicators</a:t>
            </a:r>
          </a:p>
          <a:p>
            <a:pPr lvl="1"/>
            <a:r>
              <a:rPr sz="1100">
                <a:solidFill>
                  <a:srgbClr val="555555"/>
                </a:solidFill>
                <a:latin typeface="Calibri"/>
              </a:rPr>
              <a:t>–  The same method applies to hospitalization, emergency department, and EMS data</a:t>
            </a:r>
          </a:p>
          <a:p>
            <a:pPr lvl="1"/>
            <a:r>
              <a:rPr sz="1100">
                <a:solidFill>
                  <a:srgbClr val="555555"/>
                </a:solidFill>
                <a:latin typeface="Calibri"/>
              </a:rPr>
              <a:t>–  Same data source, same code structure, different outcome variable</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Background</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371600"/>
            <a:ext cx="10972800" cy="4572000"/>
          </a:xfrm>
          <a:prstGeom prst="rect">
            <a:avLst/>
          </a:prstGeom>
          <a:noFill/>
        </p:spPr>
        <p:txBody>
          <a:bodyPr wrap="square">
            <a:spAutoFit/>
          </a:bodyPr>
          <a:lstStyle/>
          <a:p>
            <a:pPr/>
            <a:r>
              <a:rPr sz="1300">
                <a:solidFill>
                  <a:srgbClr val="1A1A1A"/>
                </a:solidFill>
                <a:latin typeface="Calibri"/>
              </a:rPr>
              <a:t>•  Alberta has been responding to an opioid crisis since the mid-2010s</a:t>
            </a:r>
          </a:p>
          <a:p>
            <a:pPr lvl="1"/>
            <a:r>
              <a:rPr sz="1100">
                <a:solidFill>
                  <a:srgbClr val="555555"/>
                </a:solidFill>
                <a:latin typeface="Calibri"/>
              </a:rPr>
              <a:t>–  Fentanyl emerged in Alberta's unregulated drug supply through 2014-2016, replacing earlier prescription-opioid harms</a:t>
            </a:r>
          </a:p>
          <a:p>
            <a:pPr lvl="1"/>
            <a:r>
              <a:rPr sz="1100">
                <a:solidFill>
                  <a:srgbClr val="555555"/>
                </a:solidFill>
                <a:latin typeface="Calibri"/>
              </a:rPr>
              <a:t>–  In 2016 Alberta recorded 611 apparent opioid-related deaths</a:t>
            </a:r>
          </a:p>
          <a:p>
            <a:pPr lvl="1"/>
            <a:r>
              <a:rPr sz="1100">
                <a:solidFill>
                  <a:srgbClr val="555555"/>
                </a:solidFill>
                <a:latin typeface="Calibri"/>
              </a:rPr>
              <a:t>–  In May 2017 the province established a Minister's Opioid Emergency Response Commission under the Public Health Act</a:t>
            </a:r>
          </a:p>
          <a:p>
            <a:pPr/>
            <a:r>
              <a:rPr sz="1300">
                <a:solidFill>
                  <a:srgbClr val="1A1A1A"/>
                </a:solidFill>
                <a:latin typeface="Calibri"/>
              </a:rPr>
              <a:t>•  By 2016-2019, Alberta's opioid mortality had stabilised at a high level</a:t>
            </a:r>
          </a:p>
          <a:p>
            <a:pPr lvl="1"/>
            <a:r>
              <a:rPr sz="1100">
                <a:solidFill>
                  <a:srgbClr val="555555"/>
                </a:solidFill>
                <a:latin typeface="Calibri"/>
              </a:rPr>
              <a:t>–  Quarterly opioid death rate sat around 4 per 100,000 residents from 2016 through early 2020</a:t>
            </a:r>
          </a:p>
          <a:p>
            <a:pPr lvl="1"/>
            <a:r>
              <a:rPr sz="1100">
                <a:solidFill>
                  <a:srgbClr val="555555"/>
                </a:solidFill>
                <a:latin typeface="Calibri"/>
              </a:rPr>
              <a:t>–  Roughly 170-200 deaths per quarter, with no sustained upward or downward trend over the four-year period</a:t>
            </a:r>
          </a:p>
          <a:p>
            <a:pPr lvl="1"/>
            <a:r>
              <a:rPr sz="1100">
                <a:solidFill>
                  <a:srgbClr val="555555"/>
                </a:solidFill>
                <a:latin typeface="Calibri"/>
              </a:rPr>
              <a:t>–  This is the pre-COVID baseline used in this analysis</a:t>
            </a:r>
          </a:p>
          <a:p>
            <a:pPr/>
            <a:r>
              <a:rPr sz="1300">
                <a:solidFill>
                  <a:srgbClr val="1A1A1A"/>
                </a:solidFill>
                <a:latin typeface="Calibri"/>
              </a:rPr>
              <a:t>•  In March 2020 the COVID-19 pandemic intersected with the existing opioid crisis</a:t>
            </a:r>
          </a:p>
          <a:p>
            <a:pPr lvl="1"/>
            <a:r>
              <a:rPr sz="1100">
                <a:solidFill>
                  <a:srgbClr val="555555"/>
                </a:solidFill>
                <a:latin typeface="Calibri"/>
              </a:rPr>
              <a:t>–  WHO characterized COVID-19 as a pandemic on 11 March 2020</a:t>
            </a:r>
          </a:p>
          <a:p>
            <a:pPr lvl="1"/>
            <a:r>
              <a:rPr sz="1100">
                <a:solidFill>
                  <a:srgbClr val="555555"/>
                </a:solidFill>
                <a:latin typeface="Calibri"/>
              </a:rPr>
              <a:t>–  Alberta declared a provincial public health emergency on 17 March 2020</a:t>
            </a:r>
          </a:p>
          <a:p>
            <a:pPr lvl="1"/>
            <a:r>
              <a:rPr sz="1100">
                <a:solidFill>
                  <a:srgbClr val="555555"/>
                </a:solidFill>
                <a:latin typeface="Calibri"/>
              </a:rPr>
              <a:t>–  Federal data shows opioid mortality rose sharply across Canada from 2020 onward; the size and timing of Alberta's specific shift have not been quantified at this resolution in publicly available analysis</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Research Question</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371600"/>
            <a:ext cx="10972800" cy="4572000"/>
          </a:xfrm>
          <a:prstGeom prst="rect">
            <a:avLst/>
          </a:prstGeom>
          <a:noFill/>
        </p:spPr>
        <p:txBody>
          <a:bodyPr wrap="square">
            <a:spAutoFit/>
          </a:bodyPr>
          <a:lstStyle/>
          <a:p>
            <a:pPr/>
            <a:r>
              <a:rPr sz="1400">
                <a:solidFill>
                  <a:srgbClr val="1A1A1A"/>
                </a:solidFill>
                <a:latin typeface="Calibri"/>
              </a:rPr>
              <a:t>•  Did Alberta's opioid death rate shift at the COVID-19 cutoff (2020 Q2) in a way the pre-COVID period cannot explain?</a:t>
            </a:r>
          </a:p>
          <a:p>
            <a:pPr lvl="1"/>
            <a:r>
              <a:rPr sz="1100">
                <a:solidFill>
                  <a:srgbClr val="555555"/>
                </a:solidFill>
                <a:latin typeface="Calibri"/>
              </a:rPr>
              <a:t>–  This is a 'break' question, not a 'cause' question: we ask whether the post-cutoff data are inconsistent with the pre-period pattern</a:t>
            </a:r>
          </a:p>
          <a:p>
            <a:pPr lvl="1"/>
            <a:r>
              <a:rPr sz="1100">
                <a:solidFill>
                  <a:srgbClr val="555555"/>
                </a:solidFill>
                <a:latin typeface="Calibri"/>
              </a:rPr>
              <a:t>–  The pre-COVID period gives us a model of how the rate behaved (level, trend, seasonality); extrapolating that model forward gives a counterfactual for what we would expect post-cutoff if nothing had changed</a:t>
            </a:r>
          </a:p>
          <a:p>
            <a:pPr lvl="1"/>
            <a:r>
              <a:rPr sz="1100">
                <a:solidFill>
                  <a:srgbClr val="555555"/>
                </a:solidFill>
                <a:latin typeface="Calibri"/>
              </a:rPr>
              <a:t>–  If observed post-cutoff data depart materially from that extrapolation, the shift is real</a:t>
            </a:r>
          </a:p>
          <a:p>
            <a:pPr/>
            <a:r>
              <a:rPr sz="1400">
                <a:solidFill>
                  <a:srgbClr val="1A1A1A"/>
                </a:solidFill>
                <a:latin typeface="Calibri"/>
              </a:rPr>
              <a:t>•  If a shift exists, two sub-questions follow</a:t>
            </a:r>
          </a:p>
          <a:p>
            <a:pPr lvl="1"/>
            <a:r>
              <a:rPr sz="1100">
                <a:solidFill>
                  <a:srgbClr val="555555"/>
                </a:solidFill>
                <a:latin typeface="Calibri"/>
              </a:rPr>
              <a:t>–  How large is it, in deaths per 100,000 per quarter, and how large is it relative to pre-period variation?</a:t>
            </a:r>
          </a:p>
          <a:p>
            <a:pPr lvl="1"/>
            <a:r>
              <a:rPr sz="1100">
                <a:solidFill>
                  <a:srgbClr val="555555"/>
                </a:solidFill>
                <a:latin typeface="Calibri"/>
              </a:rPr>
              <a:t>–  Could a pattern of this size arise from normal fluctuation in a noisy series? This is a precision question, not yet a policy question</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Approach</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280160"/>
            <a:ext cx="10972800" cy="4754880"/>
          </a:xfrm>
          <a:prstGeom prst="rect">
            <a:avLst/>
          </a:prstGeom>
          <a:noFill/>
        </p:spPr>
        <p:txBody>
          <a:bodyPr wrap="square">
            <a:spAutoFit/>
          </a:bodyPr>
          <a:lstStyle/>
          <a:p>
            <a:pPr/>
            <a:r>
              <a:rPr sz="1300">
                <a:solidFill>
                  <a:srgbClr val="1A1A1A"/>
                </a:solidFill>
                <a:latin typeface="Calibri"/>
              </a:rPr>
              <a:t>•  To answer this research question I used interrupted time series (segmented regression)</a:t>
            </a:r>
          </a:p>
          <a:p>
            <a:pPr lvl="1"/>
            <a:r>
              <a:rPr sz="1000">
                <a:solidFill>
                  <a:srgbClr val="555555"/>
                </a:solidFill>
                <a:latin typeface="Calibri"/>
              </a:rPr>
              <a:t>–  The method directly tests for a level shift at a known cutoff, with the pre-period model (intercept, slope, seasonality) extrapolated forward as the counterfactual</a:t>
            </a:r>
          </a:p>
          <a:p>
            <a:pPr lvl="1"/>
            <a:r>
              <a:rPr sz="1000">
                <a:solidFill>
                  <a:srgbClr val="555555"/>
                </a:solidFill>
                <a:latin typeface="Calibri"/>
              </a:rPr>
              <a:t>–  It estimates three things separately: the existing trajectory before the cutoff, the level gap at the cutoff, and any change in trajectory after</a:t>
            </a:r>
          </a:p>
          <a:p>
            <a:pPr lvl="1"/>
            <a:r>
              <a:rPr sz="1000">
                <a:solidFill>
                  <a:srgbClr val="555555"/>
                </a:solidFill>
                <a:latin typeface="Calibri"/>
              </a:rPr>
              <a:t>–  Standard tool in health policy and public health epidemiology for exactly this kind of pre/post comparison</a:t>
            </a:r>
          </a:p>
          <a:p>
            <a:pPr/>
            <a:r>
              <a:rPr sz="1300">
                <a:solidFill>
                  <a:srgbClr val="1A1A1A"/>
                </a:solidFill>
                <a:latin typeface="Calibri"/>
              </a:rPr>
              <a:t>•  I used federal public data because the analysis must be independent and reproducible</a:t>
            </a:r>
          </a:p>
          <a:p>
            <a:pPr lvl="1"/>
            <a:r>
              <a:rPr sz="1000">
                <a:solidFill>
                  <a:srgbClr val="555555"/>
                </a:solidFill>
                <a:latin typeface="Calibri"/>
              </a:rPr>
              <a:t>–  Quarterly opioid deaths from the Public Health Agency of Canada, 2016 Q1 to 2025 Q3</a:t>
            </a:r>
          </a:p>
          <a:p>
            <a:pPr lvl="1"/>
            <a:r>
              <a:rPr sz="1000">
                <a:solidFill>
                  <a:srgbClr val="555555"/>
                </a:solidFill>
                <a:latin typeface="Calibri"/>
              </a:rPr>
              <a:t>–  Quarterly population from Statistics Canada, used to convert counts to a rate per 100,000 so the result is not driven by Alberta's population growth (about 12 per cent over the period)</a:t>
            </a:r>
          </a:p>
          <a:p>
            <a:pPr lvl="1"/>
            <a:r>
              <a:rPr sz="1000">
                <a:solidFill>
                  <a:srgbClr val="555555"/>
                </a:solidFill>
                <a:latin typeface="Calibri"/>
              </a:rPr>
              <a:t>–  No internal Government of Alberta data was used</a:t>
            </a:r>
          </a:p>
          <a:p>
            <a:pPr/>
            <a:r>
              <a:rPr sz="1300">
                <a:solidFill>
                  <a:srgbClr val="1A1A1A"/>
                </a:solidFill>
                <a:latin typeface="Calibri"/>
              </a:rPr>
              <a:t>•  I added four robustness checks because a single estimate from one specification is not enough to defend a finding</a:t>
            </a:r>
          </a:p>
          <a:p>
            <a:pPr lvl="1"/>
            <a:r>
              <a:rPr sz="1000">
                <a:solidFill>
                  <a:srgbClr val="555555"/>
                </a:solidFill>
                <a:latin typeface="Calibri"/>
              </a:rPr>
              <a:t>–  Placebo cutoffs in the pre-period: re-running the model with fake cutoffs at pre-COVID dates generates a reference distribution for the size of 'jumps' the method finds when nothing has happened; the real cutoff should lie outside that distribution</a:t>
            </a:r>
          </a:p>
          <a:p>
            <a:pPr lvl="1"/>
            <a:r>
              <a:rPr sz="1000">
                <a:solidFill>
                  <a:srgbClr val="555555"/>
                </a:solidFill>
                <a:latin typeface="Calibri"/>
              </a:rPr>
              <a:t>–  HAC lag sensitivity: re-estimate the standard errors with different lag lengths so the inference does not depend on a single tuning choice</a:t>
            </a:r>
          </a:p>
          <a:p>
            <a:pPr lvl="1"/>
            <a:r>
              <a:rPr sz="1000">
                <a:solidFill>
                  <a:srgbClr val="555555"/>
                </a:solidFill>
                <a:latin typeface="Calibri"/>
              </a:rPr>
              <a:t>–  Donut: drop the partial-exposure quarter (2020 Q1) and refit, to confirm the estimate is not driven by one transitional observation</a:t>
            </a:r>
          </a:p>
          <a:p>
            <a:pPr lvl="1"/>
            <a:r>
              <a:rPr sz="1000">
                <a:solidFill>
                  <a:srgbClr val="555555"/>
                </a:solidFill>
                <a:latin typeface="Calibri"/>
              </a:rPr>
              <a:t>–  Negative binomial cross-check with population offset: tests both the linear-additive functional form and the OLS Gaussian distributional assumption against a count model better matched to mortality data</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Findings</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pic>
        <p:nvPicPr>
          <p:cNvPr id="4" name="Picture 3" descr="rdit_opioid_deaths.png"/>
          <p:cNvPicPr>
            <a:picLocks noChangeAspect="1"/>
          </p:cNvPicPr>
          <p:nvPr/>
        </p:nvPicPr>
        <p:blipFill>
          <a:blip r:embed="rId2"/>
          <a:stretch>
            <a:fillRect/>
          </a:stretch>
        </p:blipFill>
        <p:spPr>
          <a:xfrm>
            <a:off x="457200" y="1143000"/>
            <a:ext cx="7680960" cy="4649481"/>
          </a:xfrm>
          <a:prstGeom prst="rect">
            <a:avLst/>
          </a:prstGeom>
        </p:spPr>
      </p:pic>
      <p:sp>
        <p:nvSpPr>
          <p:cNvPr id="5" name="TextBox 4"/>
          <p:cNvSpPr txBox="1"/>
          <p:nvPr/>
        </p:nvSpPr>
        <p:spPr>
          <a:xfrm>
            <a:off x="8412480" y="1280160"/>
            <a:ext cx="3657600" cy="5029200"/>
          </a:xfrm>
          <a:prstGeom prst="rect">
            <a:avLst/>
          </a:prstGeom>
          <a:noFill/>
        </p:spPr>
        <p:txBody>
          <a:bodyPr wrap="square">
            <a:spAutoFit/>
          </a:bodyPr>
          <a:lstStyle/>
          <a:p>
            <a:pPr/>
            <a:r>
              <a:rPr sz="1100">
                <a:solidFill>
                  <a:srgbClr val="1A1A1A"/>
                </a:solidFill>
                <a:latin typeface="Calibri"/>
              </a:rPr>
              <a:t>•  Pre-COVID baseline was flat</a:t>
            </a:r>
          </a:p>
          <a:p>
            <a:pPr lvl="1"/>
            <a:r>
              <a:rPr sz="900">
                <a:solidFill>
                  <a:srgbClr val="555555"/>
                </a:solidFill>
                <a:latin typeface="Calibri"/>
              </a:rPr>
              <a:t>–  Quarterly rate sat around 4 per 100,000 from 2016 through early 2020</a:t>
            </a:r>
          </a:p>
          <a:p>
            <a:pPr lvl="1"/>
            <a:r>
              <a:rPr sz="900">
                <a:solidFill>
                  <a:srgbClr val="555555"/>
                </a:solidFill>
                <a:latin typeface="Calibri"/>
              </a:rPr>
              <a:t>–  Pre-COVID slope essentially zero (p = 0.94)</a:t>
            </a:r>
          </a:p>
          <a:p>
            <a:pPr/>
            <a:r>
              <a:rPr sz="1100">
                <a:solidFill>
                  <a:srgbClr val="1A1A1A"/>
                </a:solidFill>
                <a:latin typeface="Calibri"/>
              </a:rPr>
              <a:t>•  Level shift at 2020 Q2</a:t>
            </a:r>
          </a:p>
          <a:p>
            <a:pPr lvl="1"/>
            <a:r>
              <a:rPr sz="900">
                <a:solidFill>
                  <a:srgbClr val="555555"/>
                </a:solidFill>
                <a:latin typeface="Calibri"/>
              </a:rPr>
              <a:t>–  About +5.5 per 100,000 per quarter (95% CI +3.6 to +7.4)</a:t>
            </a:r>
          </a:p>
          <a:p>
            <a:pPr lvl="1"/>
            <a:r>
              <a:rPr sz="900">
                <a:solidFill>
                  <a:srgbClr val="555555"/>
                </a:solidFill>
                <a:latin typeface="Calibri"/>
              </a:rPr>
              <a:t>–  Equivalent to a rate ratio of 2.4 (count-model cross-check)</a:t>
            </a:r>
          </a:p>
          <a:p>
            <a:pPr lvl="1"/>
            <a:r>
              <a:rPr sz="900">
                <a:solidFill>
                  <a:srgbClr val="555555"/>
                </a:solidFill>
                <a:latin typeface="Calibri"/>
              </a:rPr>
              <a:t>–  The rate roughly doubled (~4 per 100k to ~9.5 immediately post-cutoff)</a:t>
            </a:r>
          </a:p>
          <a:p>
            <a:pPr lvl="1"/>
            <a:r>
              <a:rPr sz="900">
                <a:solidFill>
                  <a:srgbClr val="555555"/>
                </a:solidFill>
                <a:latin typeface="Calibri"/>
              </a:rPr>
              <a:t>–  At Alberta's mean population over the period, this is ~246 additional deaths per quarter, evaluated at the cutoff</a:t>
            </a:r>
          </a:p>
          <a:p>
            <a:pPr/>
            <a:r>
              <a:rPr sz="1100">
                <a:solidFill>
                  <a:srgbClr val="1A1A1A"/>
                </a:solidFill>
                <a:latin typeface="Calibri"/>
              </a:rPr>
              <a:t>•  Inference is strong</a:t>
            </a:r>
          </a:p>
          <a:p>
            <a:pPr lvl="1"/>
            <a:r>
              <a:rPr sz="900">
                <a:solidFill>
                  <a:srgbClr val="555555"/>
                </a:solidFill>
                <a:latin typeface="Calibri"/>
              </a:rPr>
              <a:t>–  p &lt; 0.001 in the main spec</a:t>
            </a:r>
          </a:p>
          <a:p>
            <a:pPr lvl="1"/>
            <a:r>
              <a:rPr sz="900">
                <a:solidFill>
                  <a:srgbClr val="555555"/>
                </a:solidFill>
                <a:latin typeface="Calibri"/>
              </a:rPr>
              <a:t>–  Placebo cutoffs in the pre-period maxed out at about one third of the real estimate, in the opposite direction; the real shift is far outside the placebo distribution</a:t>
            </a:r>
          </a:p>
          <a:p>
            <a:pPr/>
            <a:r>
              <a:rPr sz="1100">
                <a:solidFill>
                  <a:srgbClr val="1A1A1A"/>
                </a:solidFill>
                <a:latin typeface="Calibri"/>
              </a:rPr>
              <a:t>•  Robustness checks all hold</a:t>
            </a:r>
          </a:p>
          <a:p>
            <a:pPr lvl="1"/>
            <a:r>
              <a:rPr sz="900">
                <a:solidFill>
                  <a:srgbClr val="555555"/>
                </a:solidFill>
                <a:latin typeface="Calibri"/>
              </a:rPr>
              <a:t>–  HAC lag sensitivity: estimate stable across lag choices</a:t>
            </a:r>
          </a:p>
          <a:p>
            <a:pPr lvl="1"/>
            <a:r>
              <a:rPr sz="900">
                <a:solidFill>
                  <a:srgbClr val="555555"/>
                </a:solidFill>
                <a:latin typeface="Calibri"/>
              </a:rPr>
              <a:t>–  Donut: drops the transitional quarter, estimate moves &lt;3%</a:t>
            </a:r>
          </a:p>
          <a:p>
            <a:pPr lvl="1"/>
            <a:r>
              <a:rPr sz="900">
                <a:solidFill>
                  <a:srgbClr val="555555"/>
                </a:solidFill>
                <a:latin typeface="Calibri"/>
              </a:rPr>
              <a:t>–  NB cross-check confirms the rate-ratio interpretation</a:t>
            </a:r>
          </a:p>
        </p:txBody>
      </p:sp>
      <p:sp>
        <p:nvSpPr>
          <p:cNvPr id="6" name="TextBox 5"/>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7" name="TextBox 6"/>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What This Means</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280160"/>
            <a:ext cx="10972800" cy="4754880"/>
          </a:xfrm>
          <a:prstGeom prst="rect">
            <a:avLst/>
          </a:prstGeom>
          <a:noFill/>
        </p:spPr>
        <p:txBody>
          <a:bodyPr wrap="square">
            <a:spAutoFit/>
          </a:bodyPr>
          <a:lstStyle/>
          <a:p>
            <a:pPr/>
            <a:r>
              <a:rPr sz="1200">
                <a:solidFill>
                  <a:srgbClr val="1A1A1A"/>
                </a:solidFill>
                <a:latin typeface="Calibri"/>
              </a:rPr>
              <a:t>•  The analysis identifies the level shift at 2020 Q2 that the pre-period trend and seasonality cannot explain</a:t>
            </a:r>
          </a:p>
          <a:p>
            <a:pPr lvl="1"/>
            <a:r>
              <a:rPr sz="1000">
                <a:solidFill>
                  <a:srgbClr val="555555"/>
                </a:solidFill>
                <a:latin typeface="Calibri"/>
              </a:rPr>
              <a:t>–  This is what the statistics support directly; everything below is interpretation</a:t>
            </a:r>
          </a:p>
          <a:p>
            <a:pPr/>
            <a:r>
              <a:rPr sz="1200">
                <a:solidFill>
                  <a:srgbClr val="1A1A1A"/>
                </a:solidFill>
                <a:latin typeface="Calibri"/>
              </a:rPr>
              <a:t>•  I interpret that shift as the total joint effect of the COVID-19 pandemic bundle</a:t>
            </a:r>
          </a:p>
          <a:p>
            <a:pPr lvl="1"/>
            <a:r>
              <a:rPr sz="1000">
                <a:solidFill>
                  <a:srgbClr val="555555"/>
                </a:solidFill>
                <a:latin typeface="Calibri"/>
              </a:rPr>
              <a:t>–  'Pandemic' here means everything that came together at the cutoff: virus circulation, the public health emergency response, drug supply chain disruption, harm reduction service capacity, mental health and addiction service capacity, isolation, and the economic shock</a:t>
            </a:r>
          </a:p>
          <a:p>
            <a:pPr lvl="1"/>
            <a:r>
              <a:rPr sz="1000">
                <a:solidFill>
                  <a:srgbClr val="555555"/>
                </a:solidFill>
                <a:latin typeface="Calibri"/>
              </a:rPr>
              <a:t>–  These are downstream consequences of the pandemic; they did not align by coincidence</a:t>
            </a:r>
          </a:p>
          <a:p>
            <a:pPr lvl="1"/>
            <a:r>
              <a:rPr sz="1000">
                <a:solidFill>
                  <a:srgbClr val="555555"/>
                </a:solidFill>
                <a:latin typeface="Calibri"/>
              </a:rPr>
              <a:t>–  This is an interpretive choice, not a statistical claim. The design cannot separate the channels, and the channels cannot meaningfully be removed from 'COVID' without losing the concept itself</a:t>
            </a:r>
          </a:p>
          <a:p>
            <a:pPr/>
            <a:r>
              <a:rPr sz="1200">
                <a:solidFill>
                  <a:srgbClr val="1A1A1A"/>
                </a:solidFill>
                <a:latin typeface="Calibri"/>
              </a:rPr>
              <a:t>•  The analysis does NOT identify which channel caused most of the damage</a:t>
            </a:r>
          </a:p>
          <a:p>
            <a:pPr lvl="1"/>
            <a:r>
              <a:rPr sz="1000">
                <a:solidFill>
                  <a:srgbClr val="555555"/>
                </a:solidFill>
                <a:latin typeface="Calibri"/>
              </a:rPr>
              <a:t>–  That is a different question (mechanism, not break) and needs different data: drug-checking composition, service utilization records, fentanyl share of toxicology, and so on</a:t>
            </a:r>
          </a:p>
          <a:p>
            <a:pPr lvl="1"/>
            <a:r>
              <a:rPr sz="1000">
                <a:solidFill>
                  <a:srgbClr val="555555"/>
                </a:solidFill>
                <a:latin typeface="Calibri"/>
              </a:rPr>
              <a:t>–  Comparing Alberta to other provinces would not solve this: every Canadian province faced COVID and its policy response at the same time, so peer comparison identifies Alberta-specific deviation, not a virus-only channel</a:t>
            </a:r>
          </a:p>
          <a:p>
            <a:pPr/>
            <a:r>
              <a:rPr sz="1200">
                <a:solidFill>
                  <a:srgbClr val="1A1A1A"/>
                </a:solidFill>
                <a:latin typeface="Calibri"/>
              </a:rPr>
              <a:t>•  The post-cutoff series has been declining since 2024</a:t>
            </a:r>
          </a:p>
          <a:p>
            <a:pPr lvl="1"/>
            <a:r>
              <a:rPr sz="1000">
                <a:solidFill>
                  <a:srgbClr val="555555"/>
                </a:solidFill>
                <a:latin typeface="Calibri"/>
              </a:rPr>
              <a:t>–  This analysis does not test that decline formally; doing so is a natural next step</a:t>
            </a:r>
          </a:p>
          <a:p>
            <a:pPr lvl="1"/>
            <a:r>
              <a:rPr sz="1000">
                <a:solidFill>
                  <a:srgbClr val="555555"/>
                </a:solidFill>
                <a:latin typeface="Calibri"/>
              </a:rPr>
              <a:t>–  The Recovery Model's performance framing should be explicit about which baseline it compares to: pre-COVID, post-cutoff peak, or current</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none">
            <a:spAutoFit/>
          </a:bodyPr>
          <a:lstStyle/>
          <a:p>
            <a:r>
              <a:rPr sz="2600" b="1">
                <a:solidFill>
                  <a:srgbClr val="000000"/>
                </a:solidFill>
                <a:latin typeface="Calibri"/>
              </a:rPr>
              <a:t>Limitations and Next Steps</a:t>
            </a:r>
          </a:p>
        </p:txBody>
      </p:sp>
      <p:cxnSp>
        <p:nvCxnSpPr>
          <p:cNvPr id="3" name="Connector 2"/>
          <p:cNvCxnSpPr/>
          <p:nvPr/>
        </p:nvCxnSpPr>
        <p:spPr>
          <a:xfrm>
            <a:off x="548640" y="960120"/>
            <a:ext cx="11064240" cy="0"/>
          </a:xfrm>
          <a:prstGeom prst="line">
            <a:avLst/>
          </a:prstGeom>
          <a:ln w="9525">
            <a:solidFill>
              <a:srgbClr val="00000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40080" y="1280160"/>
            <a:ext cx="10972800" cy="4754880"/>
          </a:xfrm>
          <a:prstGeom prst="rect">
            <a:avLst/>
          </a:prstGeom>
          <a:noFill/>
        </p:spPr>
        <p:txBody>
          <a:bodyPr wrap="square">
            <a:spAutoFit/>
          </a:bodyPr>
          <a:lstStyle/>
          <a:p>
            <a:pPr/>
            <a:r>
              <a:rPr sz="1200">
                <a:solidFill>
                  <a:srgbClr val="1A1A1A"/>
                </a:solidFill>
                <a:latin typeface="Calibri"/>
              </a:rPr>
              <a:t>•  Limitations to keep in mind</a:t>
            </a:r>
          </a:p>
          <a:p>
            <a:pPr lvl="1"/>
            <a:r>
              <a:rPr sz="1000">
                <a:solidFill>
                  <a:srgbClr val="555555"/>
                </a:solidFill>
                <a:latin typeface="Calibri"/>
              </a:rPr>
              <a:t>–  Single province, single outcome (opioid deaths) - no decomposition by age, sex, zone, or substance type</a:t>
            </a:r>
          </a:p>
          <a:p>
            <a:pPr lvl="1"/>
            <a:r>
              <a:rPr sz="1000">
                <a:solidFill>
                  <a:srgbClr val="555555"/>
                </a:solidFill>
                <a:latin typeface="Calibri"/>
              </a:rPr>
              <a:t>–  Small sample for asymptotic inference (n = 39 quarters); n is at the lower end of where Newey-West asymptotics are reasonable, which is why placebos serve as a partial substitute</a:t>
            </a:r>
          </a:p>
          <a:p>
            <a:pPr lvl="1"/>
            <a:r>
              <a:rPr sz="1000">
                <a:solidFill>
                  <a:srgbClr val="555555"/>
                </a:solidFill>
                <a:latin typeface="Calibri"/>
              </a:rPr>
              <a:t>–  The cutoff (2020 Q2) was chosen because the emergency was declared 17 March 2020; 2020 Q1 is partial-exposure, the donut robustness confirms the choice does not drive the result</a:t>
            </a:r>
          </a:p>
          <a:p>
            <a:pPr lvl="1"/>
            <a:r>
              <a:rPr sz="1000">
                <a:solidFill>
                  <a:srgbClr val="555555"/>
                </a:solidFill>
                <a:latin typeface="Calibri"/>
              </a:rPr>
              <a:t>–  Beta-2 is the level shift conditional on a linear post-trend; the post-period is non-monotonic (peak in 2021 Q4, decline since 2024), so a single level shift does not capture the full dynamic</a:t>
            </a:r>
          </a:p>
          <a:p>
            <a:pPr lvl="1"/>
            <a:r>
              <a:rPr sz="1000">
                <a:solidFill>
                  <a:srgbClr val="555555"/>
                </a:solidFill>
                <a:latin typeface="Calibri"/>
              </a:rPr>
              <a:t>–  Seasonality is modelled as additive quarter fixed effects, assumed constant across years (likely fine but not formally tested)</a:t>
            </a:r>
          </a:p>
          <a:p>
            <a:pPr lvl="1"/>
            <a:r>
              <a:rPr sz="1000">
                <a:solidFill>
                  <a:srgbClr val="555555"/>
                </a:solidFill>
                <a:latin typeface="Calibri"/>
              </a:rPr>
              <a:t>–  Reporting lag and revisions: the most recent quarters may move when PHAC updates the data</a:t>
            </a:r>
          </a:p>
          <a:p>
            <a:pPr/>
            <a:r>
              <a:rPr sz="1200">
                <a:solidFill>
                  <a:srgbClr val="1A1A1A"/>
                </a:solidFill>
                <a:latin typeface="Calibri"/>
              </a:rPr>
              <a:t>•  What I would do next</a:t>
            </a:r>
          </a:p>
          <a:p>
            <a:pPr lvl="1"/>
            <a:r>
              <a:rPr sz="1000">
                <a:solidFill>
                  <a:srgbClr val="555555"/>
                </a:solidFill>
                <a:latin typeface="Calibri"/>
              </a:rPr>
              <a:t>–  Mechanism decomposition: bring in supply-side, service-capacity, and outcome data to attribute share of the shift to each channel</a:t>
            </a:r>
          </a:p>
          <a:p>
            <a:pPr lvl="1"/>
            <a:r>
              <a:rPr sz="1000">
                <a:solidFill>
                  <a:srgbClr val="555555"/>
                </a:solidFill>
                <a:latin typeface="Calibri"/>
              </a:rPr>
              <a:t>–  Heterogeneity: by age, sex, zone (Edmonton, Calgary, rural), and substance type (fentanyl, carfentanil, other)</a:t>
            </a:r>
          </a:p>
          <a:p>
            <a:pPr lvl="1"/>
            <a:r>
              <a:rPr sz="1000">
                <a:solidFill>
                  <a:srgbClr val="555555"/>
                </a:solidFill>
                <a:latin typeface="Calibri"/>
              </a:rPr>
              <a:t>–  Post-period dynamics: model the rise-to-peak-and-decline shape directly, rather than collapsing it into a single level shift</a:t>
            </a:r>
          </a:p>
          <a:p>
            <a:pPr lvl="1"/>
            <a:r>
              <a:rPr sz="1000">
                <a:solidFill>
                  <a:srgbClr val="555555"/>
                </a:solidFill>
                <a:latin typeface="Calibri"/>
              </a:rPr>
              <a:t>–  Cumulative excess deaths through end-of-sample as a policy-relevant total</a:t>
            </a:r>
          </a:p>
          <a:p>
            <a:pPr/>
            <a:r>
              <a:rPr sz="1200">
                <a:solidFill>
                  <a:srgbClr val="1A1A1A"/>
                </a:solidFill>
                <a:latin typeface="Calibri"/>
              </a:rPr>
              <a:t>•  Reproducibility</a:t>
            </a:r>
          </a:p>
          <a:p>
            <a:pPr lvl="1"/>
            <a:r>
              <a:rPr sz="1000">
                <a:solidFill>
                  <a:srgbClr val="555555"/>
                </a:solidFill>
                <a:latin typeface="Calibri"/>
              </a:rPr>
              <a:t>–  Code, data, and full documentation: github.com/Adilbek123/alberta-substance-use-trends</a:t>
            </a:r>
          </a:p>
        </p:txBody>
      </p:sp>
      <p:sp>
        <p:nvSpPr>
          <p:cNvPr id="5" name="TextBox 4"/>
          <p:cNvSpPr txBox="1"/>
          <p:nvPr/>
        </p:nvSpPr>
        <p:spPr>
          <a:xfrm>
            <a:off x="548640" y="6446520"/>
            <a:ext cx="10058400" cy="274320"/>
          </a:xfrm>
          <a:prstGeom prst="rect">
            <a:avLst/>
          </a:prstGeom>
          <a:noFill/>
        </p:spPr>
        <p:txBody>
          <a:bodyPr wrap="none">
            <a:spAutoFit/>
          </a:bodyPr>
          <a:lstStyle/>
          <a:p>
            <a:r>
              <a:rPr sz="900">
                <a:solidFill>
                  <a:srgbClr val="999999"/>
                </a:solidFill>
                <a:latin typeface="Calibri"/>
              </a:rPr>
              <a:t>Alberta opioid mortality around COVID-19  |  independent project</a:t>
            </a:r>
          </a:p>
        </p:txBody>
      </p:sp>
      <p:sp>
        <p:nvSpPr>
          <p:cNvPr id="6" name="TextBox 5"/>
          <p:cNvSpPr txBox="1"/>
          <p:nvPr/>
        </p:nvSpPr>
        <p:spPr>
          <a:xfrm>
            <a:off x="11521440" y="6446520"/>
            <a:ext cx="548640" cy="274320"/>
          </a:xfrm>
          <a:prstGeom prst="rect">
            <a:avLst/>
          </a:prstGeom>
          <a:noFill/>
        </p:spPr>
        <p:txBody>
          <a:bodyPr wrap="none">
            <a:spAutoFit/>
          </a:bodyPr>
          <a:lstStyle/>
          <a:p>
            <a:pPr algn="r"/>
            <a:r>
              <a:rPr sz="1000">
                <a:solidFill>
                  <a:srgbClr val="999999"/>
                </a:solidFill>
                <a:latin typeface="Calibri"/>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