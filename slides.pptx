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Calibri"/>
              </a:rPr>
              <a:t>Alberta Opioid Mortality Around the COVID-19 Onset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555555"/>
                </a:solidFill>
                <a:latin typeface="Calibri"/>
              </a:rPr>
              <a:t>An interrupted time series analysis using federal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Calibri"/>
              </a:rPr>
              <a:t>Adilbek Sultanov</a:t>
            </a:r>
          </a:p>
          <a:p>
            <a:r>
              <a:rPr sz="1200">
                <a:solidFill>
                  <a:srgbClr val="555555"/>
                </a:solidFill>
                <a:latin typeface="Calibri"/>
              </a:rPr>
              <a:t>Independent project</a:t>
            </a:r>
          </a:p>
          <a:p>
            <a:r>
              <a:rPr sz="1200">
                <a:solidFill>
                  <a:srgbClr val="555555"/>
                </a:solidFill>
                <a:latin typeface="Calibri"/>
              </a:rPr>
              <a:t>May 2026</a:t>
            </a:r>
          </a:p>
          <a:p>
            <a:r>
              <a:rPr sz="1100">
                <a:solidFill>
                  <a:srgbClr val="555555"/>
                </a:solidFill>
                <a:latin typeface="Calibri"/>
              </a:rPr>
              <a:t>github.com/Adilbek123/alberta-substance-use-trends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Question to be Answered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>
                <a:solidFill>
                  <a:srgbClr val="1A1A1A"/>
                </a:solidFill>
                <a:latin typeface="Calibri"/>
              </a:rPr>
              <a:t>•  Did Alberta's opioid death rate shift sharply when COVID-19 hit, beyond what the prior trend explains?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Cutoff used: 2020 Q2, the first full quarter under Alberta's public health emergency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Outcome: opioid-related deaths per 100,000 Alberta residents per quarter</a:t>
            </a:r>
          </a:p>
          <a:p>
            <a:pPr/>
            <a:r>
              <a:rPr sz="1700">
                <a:solidFill>
                  <a:srgbClr val="1A1A1A"/>
                </a:solidFill>
                <a:latin typeface="Calibri"/>
              </a:rPr>
              <a:t>•  Why this matters for Mental Health and Addiction work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 post-COVID baseline shapes what we measure as 'success' under the Alberta Recovery Model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Understanding the size of the shift is a prerequisite for any decomposition or follow-up policy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Background and Context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Alberta opioid mortality from 2016 to early 2020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Quarterly opioid death rate sat around 4 per 100,000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Flat trend over the five years prior to COVID — no sustained rise or fall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March 2020: Alberta declares a public health emergency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Many things changed at once — virus circulation, public health measures, harm reduction services, the unregulated drug supply, mental health services, social and economic conditions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Federal data shows opioid mortality rose sharply across Canada from 2020 onward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This analysis quantifies the Alberta-specific change at the cutoff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Approach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Interrupted time series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Compare the trend in the years before the cutoff to the trend in the years after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Measure the gap between them at the cutoff itself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Adjustments to keep the comparison fair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Use a rate per 100,000 residents (not raw counts), so population growth does not drive the result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Adjust for seasonality — opioid mortality has a predictable quarter-by-quarter pattern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Robustness checks to ensure the result is not fragile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Move the cutoff back into the pre-period as a placebo — should produce no jump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Drop the quarter that straddles the cutoff and refit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Re-fit using a count model with population offset as a cross-check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Public Health Agency of Canada — Substance-Related Harms Data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Quarterly opioid deaths in Alberta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2016 Q1 through 2025 Q3 — 39 quarters in total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Downloaded 20 May 2026 from health-infobase.canada.ca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Statistics Canada Table 17-10-0009-01 — Quarterly population estimates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Used to convert death counts into a rate per 100,000 residents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No internal Government of Alberta data used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All sources are public and reproducible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Findings — A Sharp, Large, Persistent Increase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rdit_opioid_de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6494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28016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A1A1A"/>
                </a:solidFill>
                <a:latin typeface="Calibri"/>
              </a:rPr>
              <a:t>•  Pre-COVID average</a:t>
            </a:r>
          </a:p>
          <a:p>
            <a:pPr lvl="1"/>
            <a:r>
              <a:rPr sz="1100">
                <a:solidFill>
                  <a:srgbClr val="555555"/>
                </a:solidFill>
                <a:latin typeface="Calibri"/>
              </a:rPr>
              <a:t>–  About 4 deaths per 100,000 per quarter</a:t>
            </a:r>
          </a:p>
          <a:p>
            <a:pPr/>
            <a:r>
              <a:rPr sz="1300">
                <a:solidFill>
                  <a:srgbClr val="1A1A1A"/>
                </a:solidFill>
                <a:latin typeface="Calibri"/>
              </a:rPr>
              <a:t>•  Post-COVID average</a:t>
            </a:r>
          </a:p>
          <a:p>
            <a:pPr lvl="1"/>
            <a:r>
              <a:rPr sz="1100">
                <a:solidFill>
                  <a:srgbClr val="555555"/>
                </a:solidFill>
                <a:latin typeface="Calibri"/>
              </a:rPr>
              <a:t>–  About 8 deaths per 100,000 per quarter</a:t>
            </a:r>
          </a:p>
          <a:p>
            <a:pPr/>
            <a:r>
              <a:rPr sz="1300">
                <a:solidFill>
                  <a:srgbClr val="1A1A1A"/>
                </a:solidFill>
                <a:latin typeface="Calibri"/>
              </a:rPr>
              <a:t>•  Level shift at 2020 Q2</a:t>
            </a:r>
          </a:p>
          <a:p>
            <a:pPr lvl="1"/>
            <a:r>
              <a:rPr sz="1100">
                <a:solidFill>
                  <a:srgbClr val="555555"/>
                </a:solidFill>
                <a:latin typeface="Calibri"/>
              </a:rPr>
              <a:t>–  About 5.5 per 100,000 per quarter</a:t>
            </a:r>
          </a:p>
          <a:p>
            <a:pPr lvl="1"/>
            <a:r>
              <a:rPr sz="1100">
                <a:solidFill>
                  <a:srgbClr val="555555"/>
                </a:solidFill>
                <a:latin typeface="Calibri"/>
              </a:rPr>
              <a:t>–  Roughly a doubling of the rate</a:t>
            </a:r>
          </a:p>
          <a:p>
            <a:pPr lvl="1"/>
            <a:r>
              <a:rPr sz="1100">
                <a:solidFill>
                  <a:srgbClr val="555555"/>
                </a:solidFill>
                <a:latin typeface="Calibri"/>
              </a:rPr>
              <a:t>–  Statistically very strong</a:t>
            </a:r>
          </a:p>
          <a:p>
            <a:pPr/>
            <a:r>
              <a:rPr sz="1300">
                <a:solidFill>
                  <a:srgbClr val="1A1A1A"/>
                </a:solidFill>
                <a:latin typeface="Calibri"/>
              </a:rPr>
              <a:t>•  Pre-COVID trend was flat</a:t>
            </a:r>
          </a:p>
          <a:p>
            <a:pPr lvl="1"/>
            <a:r>
              <a:rPr sz="1100">
                <a:solidFill>
                  <a:srgbClr val="555555"/>
                </a:solidFill>
                <a:latin typeface="Calibri"/>
              </a:rPr>
              <a:t>–  The jump is not a continuation of an existing trend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Robustness — The Result Is Not Fragile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Placebo cutoffs in the pre-period (2018–2019)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When we move the cutoff to a date before COVID, the model finds no comparable jump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Largest placebo movement is about a third of the real jump, and in the opposite direction</a:t>
            </a:r>
          </a:p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Dropping the quarter that straddles the cutoff (2020 Q1)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 estimate moves by less than three per cent</a:t>
            </a:r>
          </a:p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Different statistical assumptions about standard errors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 estimate is the same; the size of the confidence interval barely changes</a:t>
            </a:r>
          </a:p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A count-model cross-check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 post-COVID rate is about 2.4× the pre-COVID rate, consistent with the main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What This Tells Us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There is a real, sharp, sustained change in Alberta opioid mortality at the COVID onset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Roughly a doubling of the rate, holding pre-trend and seasonality constant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 change is large enough to persist for years, with the rate only returning toward baseline since 2024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The change is attributable to the COVID-19 pandemic broadly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This includes the virus, public health measures, supply chain disruption, harm reduction service changes, mental health service disruption, social isolation, and economic shock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These are all downstream consequences of the pandemic — they came together by construction, not by coincidence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What This Does Not Tell Us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We cannot separate the virus channel from everything else that came with the pandemic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What share came from supply toxicity vs. service capacity vs. isolation vs. economic shock is a separate question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Answering it needs different data — drug-checking composition, service utilization, etc.</a:t>
            </a:r>
          </a:p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A peer-province comparison would not isolate a clean 'COVID-only' effect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All Canadian provinces faced COVID and its policy response at essentially the same time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Comparing Alberta to BC or Ontario would identify Alberta-specific deviation, not the virus channel alone</a:t>
            </a:r>
          </a:p>
          <a:p>
            <a:pPr/>
            <a:r>
              <a:rPr sz="1500">
                <a:solidFill>
                  <a:srgbClr val="1A1A1A"/>
                </a:solidFill>
                <a:latin typeface="Calibri"/>
              </a:rPr>
              <a:t>•  The estimate captures the level shift at the cutoff, not the full trajectory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The post-COVID period peaked in 2021 Q4 and has been declining since 2024 — the average effect varies year by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0000"/>
                </a:solidFill>
                <a:latin typeface="Calibri"/>
              </a:rPr>
              <a:t>Next Steps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60120"/>
            <a:ext cx="1106424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Mechanism decomposition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Bring in supply-side data, service-capacity data, and outcome data to estimate the share of the jump attributable to each channel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Heterogeneity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Break the result down by age, sex, geographic zone, and substance type (fentanyl, carfentanil, other)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Post-period dynamics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Model the rise-to-peak-and-decline shape directly, rather than collapsing it into a single level shift</a:t>
            </a:r>
          </a:p>
          <a:p>
            <a:pPr/>
            <a:r>
              <a:rPr sz="1600">
                <a:solidFill>
                  <a:srgbClr val="1A1A1A"/>
                </a:solidFill>
                <a:latin typeface="Calibri"/>
              </a:rPr>
              <a:t>•  Cumulative excess deaths</a:t>
            </a:r>
          </a:p>
          <a:p>
            <a:pPr lvl="1"/>
            <a:r>
              <a:rPr sz="1300">
                <a:solidFill>
                  <a:srgbClr val="555555"/>
                </a:solidFill>
                <a:latin typeface="Calibri"/>
              </a:rPr>
              <a:t>–  Report a policy-relevant total alongside the immediate level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  <a:latin typeface="Calibri"/>
              </a:rPr>
              <a:t>Alberta opioid mortality around COVID-19  |  independent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000000"/>
                </a:solidFill>
                <a:latin typeface="Calibri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555555"/>
                </a:solidFill>
                <a:latin typeface="Calibri"/>
              </a:rPr>
              <a:t>Code, data, and full documentation: github.com/Adilbek123/alberta-substance-use-trends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