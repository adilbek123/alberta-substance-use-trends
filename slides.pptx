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Helvetica Neue"/>
              </a:rPr>
              <a:t>Alberta opioid deaths around COVID-19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Helvetica Neue"/>
              </a:rPr>
              <a:t>An interrupted time series with placebo and NB cross-checks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Helvetica Neue"/>
              </a:rPr>
              <a:t>Adilbek Sultanov  ·  personal learning project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6FB4"/>
                </a:solidFill>
                <a:latin typeface="Helvetica Neue"/>
              </a:rPr>
              <a:t>github.com/Adilbek123/alberta-substance-use-trends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What I asked, and how I tried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Question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Did Alberta's opioid death rate shift at a level higher than the pre-COVID trend can explain, starting from 2020 Q2 (first full quarter under the public health emergency)?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Data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PHAC Health Infobase substance-related harms data + StatCan Table 17-10-0009-01. 39 quarters of Alberta opioid deaths, 2016 Q1 to 2025 Q3, normalised to deaths per 100k residents.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Method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Interrupted time series with a level and slope change around 2020 Q2. Quarter fixed effects for seasonality. Newey-West HAC SE with small-sample correction.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Robustness: HAC lag sensitivity, donut (drop 2020 Q1), seven placebo cutoffs in the pre-period, negative binomial cross-check with log-population offset.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Sharp, large, robust break at 2020 Q2</a:t>
            </a:r>
          </a:p>
        </p:txBody>
      </p:sp>
      <p:pic>
        <p:nvPicPr>
          <p:cNvPr id="3" name="Picture 2" descr="rdit_opioid_de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498079" cy="45387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Main spec</a:t>
            </a:r>
          </a:p>
          <a:p>
            <a:r>
              <a:rPr sz="1200" b="0">
                <a:solidFill>
                  <a:srgbClr val="555555"/>
                </a:solidFill>
                <a:latin typeface="Helvetica Neue"/>
              </a:rPr>
              <a:t>Level shift at 2020 Q2:</a:t>
            </a:r>
          </a:p>
          <a:p>
            <a:r>
              <a:rPr sz="1400" b="1">
                <a:solidFill>
                  <a:srgbClr val="1A1A1A"/>
                </a:solidFill>
                <a:latin typeface="Helvetica Neue"/>
              </a:rPr>
              <a:t>+5.50 per 100k per quarter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(95% CI +3.60, +7.39, p &lt; 0.001)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At mean AB pop: ~+246 deaths/quarter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Robustness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HAC L=1..6:  +5.50 (SE 0.79–0.98)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Donut (drop 2020 Q1):  +5.34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NB rate ratio:  2.43 (1.80, 3.26)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4389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Placebo cutoffs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Seven fake cutoffs in pre-period: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All point opposite direction.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Largest |placebo|: 1.86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Real jump (+5.50) is ~3× larger.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What this identifies — and what it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What the estimate captures</a:t>
            </a:r>
          </a:p>
          <a:p>
            <a:r>
              <a:rPr sz="1400" b="1">
                <a:solidFill>
                  <a:srgbClr val="1A1A1A"/>
                </a:solidFill>
                <a:latin typeface="Helvetica Neue"/>
              </a:rPr>
              <a:t>The total effect of the COVID-19 pandemic on Alberta opioid mortality.</a:t>
            </a:r>
          </a:p>
          <a:p>
            <a:r>
              <a:rPr sz="1200" b="0">
                <a:solidFill>
                  <a:srgbClr val="555555"/>
                </a:solidFill>
                <a:latin typeface="Helvetica Neue"/>
              </a:rPr>
              <a:t>Including the bundle of policy and social responses the pandemic produced: supply-chain disruption in the unregulated drug supply, reduced harm-reduction service capacity, mental-health service disruption, social isolation, economic shock. These are downstream of COVID, not parallel causes.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Helvetica Neue"/>
              </a:rPr>
              <a:t>What it does not do</a:t>
            </a:r>
          </a:p>
          <a:p>
            <a:r>
              <a:rPr sz="1400" b="1">
                <a:solidFill>
                  <a:srgbClr val="1A1A1A"/>
                </a:solidFill>
                <a:latin typeface="Helvetica Neue"/>
              </a:rPr>
              <a:t>Decompose that total into its component channels.</a:t>
            </a:r>
          </a:p>
          <a:p>
            <a:r>
              <a:rPr sz="1200" b="0">
                <a:solidFill>
                  <a:srgbClr val="555555"/>
                </a:solidFill>
                <a:latin typeface="Helvetica Neue"/>
              </a:rPr>
              <a:t>The estimate cannot tell you what share came from supply toxicity vs. service capacity vs. isolation vs. economic shock. A peer-province comparison would not fix this — all provinces faced COVID and its policy response at essentially the same time, so the comparison identifies Alberta-specific deviation, not a clean COVID-only channel.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Realistic next steps</a:t>
            </a:r>
          </a:p>
          <a:p>
            <a:r>
              <a:rPr sz="1200" b="0">
                <a:solidFill>
                  <a:srgbClr val="1A1A1A"/>
                </a:solidFill>
                <a:latin typeface="Helvetica Neue"/>
              </a:rPr>
              <a:t>1. Mechanism decomposition: triangulate supply-side, service-capacity, and outcome signals to attribute share</a:t>
            </a:r>
          </a:p>
          <a:p>
            <a:r>
              <a:rPr sz="1200" b="0">
                <a:solidFill>
                  <a:srgbClr val="1A1A1A"/>
                </a:solidFill>
                <a:latin typeface="Helvetica Neue"/>
              </a:rPr>
              <a:t>2. Heterogeneity: by age, sex, zone, substance type — where the level shift concentrated</a:t>
            </a:r>
          </a:p>
          <a:p>
            <a:r>
              <a:rPr sz="1200" b="0">
                <a:solidFill>
                  <a:srgbClr val="1A1A1A"/>
                </a:solidFill>
                <a:latin typeface="Helvetica Neue"/>
              </a:rPr>
              <a:t>3. Post-period dynamics: explicitly model the rise-and-decline shape, not just the immediate level shift</a:t>
            </a:r>
          </a:p>
          <a:p>
            <a:r>
              <a:rPr sz="1200" b="0">
                <a:solidFill>
                  <a:srgbClr val="1A1A1A"/>
                </a:solidFill>
                <a:latin typeface="Helvetica Neue"/>
              </a:rPr>
              <a:t>4. Cumulative excess deaths through end-of-sample as a policy-relevant quantity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