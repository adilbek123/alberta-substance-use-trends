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Helvetica Neue"/>
              </a:rPr>
              <a:t>Alberta opioid deaths around COVID-19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1089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Helvetica Neue"/>
              </a:rPr>
              <a:t>An interrupted time series with placebo and NB cross-checks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Helvetica Neue"/>
              </a:rPr>
              <a:t>Adilbek Sultanov  ·  personal learning project  ·  May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6FB4"/>
                </a:solidFill>
                <a:latin typeface="Helvetica Neue"/>
              </a:rPr>
              <a:t>github.com/Adilbek123/alberta-substance-use-trends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Helvetica Neue"/>
              </a:rPr>
              <a:t>Alberta opioid mortality and COVID-19  |  personal learning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Helvetica Neue"/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Helvetica Neue"/>
              </a:rPr>
              <a:t>What I asked, and how I tried to answer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B4"/>
                </a:solidFill>
                <a:latin typeface="Helvetica Neue"/>
              </a:rPr>
              <a:t>Question</a:t>
            </a:r>
          </a:p>
          <a:p>
            <a:r>
              <a:rPr sz="1400" b="0">
                <a:solidFill>
                  <a:srgbClr val="1A1A1A"/>
                </a:solidFill>
                <a:latin typeface="Helvetica Neue"/>
              </a:rPr>
              <a:t>Did Alberta's opioid death rate shift at a level higher than the pre-COVID trend can explain, starting from 2020 Q2 (first full quarter under the public health emergency)?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B4"/>
                </a:solidFill>
                <a:latin typeface="Helvetica Neue"/>
              </a:rPr>
              <a:t>Data</a:t>
            </a:r>
          </a:p>
          <a:p>
            <a:r>
              <a:rPr sz="1400" b="0">
                <a:solidFill>
                  <a:srgbClr val="1A1A1A"/>
                </a:solidFill>
                <a:latin typeface="Helvetica Neue"/>
              </a:rPr>
              <a:t>PHAC Health Infobase substance-related harms data + StatCan Table 17-10-0009-01. 39 quarters of Alberta opioid deaths, 2016 Q1 to 2025 Q3, normalised to deaths per 100k residents.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B4"/>
                </a:solidFill>
                <a:latin typeface="Helvetica Neue"/>
              </a:rPr>
              <a:t>Method</a:t>
            </a:r>
          </a:p>
          <a:p>
            <a:r>
              <a:rPr sz="1400" b="0">
                <a:solidFill>
                  <a:srgbClr val="1A1A1A"/>
                </a:solidFill>
                <a:latin typeface="Helvetica Neue"/>
              </a:rPr>
              <a:t>Interrupted time series with a level and slope change around 2020 Q2. Quarter fixed effects for seasonality. Newey-West HAC SE with small-sample correction.</a:t>
            </a:r>
          </a:p>
          <a:p>
            <a:r>
              <a:rPr sz="1400" b="0">
                <a:solidFill>
                  <a:srgbClr val="1A1A1A"/>
                </a:solidFill>
                <a:latin typeface="Helvetica Neue"/>
              </a:rPr>
              <a:t>Robustness: HAC lag sensitivity, donut (drop 2020 Q1), seven placebo cutoffs in the pre-period, negative binomial cross-check with log-population offset.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Helvetica Neue"/>
              </a:rPr>
              <a:t>Alberta opioid mortality and COVID-19  |  personal learning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Helvetica Neue"/>
              </a:rP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Helvetica Neue"/>
              </a:rPr>
              <a:t>Sharp, large, robust break at 2020 Q2</a:t>
            </a:r>
          </a:p>
        </p:txBody>
      </p:sp>
      <p:pic>
        <p:nvPicPr>
          <p:cNvPr id="3" name="Picture 2" descr="rdit_opioid_dea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498079" cy="45387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2801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6FB4"/>
                </a:solidFill>
                <a:latin typeface="Helvetica Neue"/>
              </a:rPr>
              <a:t>Main spec</a:t>
            </a:r>
          </a:p>
          <a:p>
            <a:r>
              <a:rPr sz="1200" b="0">
                <a:solidFill>
                  <a:srgbClr val="555555"/>
                </a:solidFill>
                <a:latin typeface="Helvetica Neue"/>
              </a:rPr>
              <a:t>Level shift at 2020 Q2:</a:t>
            </a:r>
          </a:p>
          <a:p>
            <a:r>
              <a:rPr sz="1400" b="1">
                <a:solidFill>
                  <a:srgbClr val="1A1A1A"/>
                </a:solidFill>
                <a:latin typeface="Helvetica Neue"/>
              </a:rPr>
              <a:t>+5.50 per 100k per quarter</a:t>
            </a:r>
          </a:p>
          <a:p>
            <a:r>
              <a:rPr sz="1100" b="0">
                <a:solidFill>
                  <a:srgbClr val="555555"/>
                </a:solidFill>
                <a:latin typeface="Helvetica Neue"/>
              </a:rPr>
              <a:t>(95% CI +3.60, +7.39, p &lt; 0.001)</a:t>
            </a:r>
          </a:p>
          <a:p>
            <a:r>
              <a:rPr sz="1100" b="0">
                <a:solidFill>
                  <a:srgbClr val="555555"/>
                </a:solidFill>
                <a:latin typeface="Helvetica Neue"/>
              </a:rPr>
              <a:t>At mean AB pop: ~+246 deaths/quarter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31089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6FB4"/>
                </a:solidFill>
                <a:latin typeface="Helvetica Neue"/>
              </a:rPr>
              <a:t>Robustness</a:t>
            </a:r>
          </a:p>
          <a:p>
            <a:r>
              <a:rPr sz="1100" b="0">
                <a:solidFill>
                  <a:srgbClr val="1A1A1A"/>
                </a:solidFill>
                <a:latin typeface="Helvetica Neue"/>
              </a:rPr>
              <a:t>HAC L=1..6:  +5.50 (SE 0.79–0.98)</a:t>
            </a:r>
          </a:p>
          <a:p>
            <a:r>
              <a:rPr sz="1100" b="0">
                <a:solidFill>
                  <a:srgbClr val="1A1A1A"/>
                </a:solidFill>
                <a:latin typeface="Helvetica Neue"/>
              </a:rPr>
              <a:t>Donut (drop 2020 Q1):  +5.34</a:t>
            </a:r>
          </a:p>
          <a:p>
            <a:r>
              <a:rPr sz="1100" b="0">
                <a:solidFill>
                  <a:srgbClr val="1A1A1A"/>
                </a:solidFill>
                <a:latin typeface="Helvetica Neue"/>
              </a:rPr>
              <a:t>NB rate ratio:  2.43 (1.80, 3.26)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43891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6FB4"/>
                </a:solidFill>
                <a:latin typeface="Helvetica Neue"/>
              </a:rPr>
              <a:t>Placebo cutoffs</a:t>
            </a:r>
          </a:p>
          <a:p>
            <a:r>
              <a:rPr sz="1100" b="0">
                <a:solidFill>
                  <a:srgbClr val="555555"/>
                </a:solidFill>
                <a:latin typeface="Helvetica Neue"/>
              </a:rPr>
              <a:t>Seven fake cutoffs in pre-period:</a:t>
            </a:r>
          </a:p>
          <a:p>
            <a:r>
              <a:rPr sz="1100" b="0">
                <a:solidFill>
                  <a:srgbClr val="1A1A1A"/>
                </a:solidFill>
                <a:latin typeface="Helvetica Neue"/>
              </a:rPr>
              <a:t>All point opposite direction.</a:t>
            </a:r>
          </a:p>
          <a:p>
            <a:r>
              <a:rPr sz="1100" b="0">
                <a:solidFill>
                  <a:srgbClr val="1A1A1A"/>
                </a:solidFill>
                <a:latin typeface="Helvetica Neue"/>
              </a:rPr>
              <a:t>Largest |placebo|: 1.86</a:t>
            </a:r>
          </a:p>
          <a:p>
            <a:r>
              <a:rPr sz="1100" b="0">
                <a:solidFill>
                  <a:srgbClr val="1A1A1A"/>
                </a:solidFill>
                <a:latin typeface="Helvetica Neue"/>
              </a:rPr>
              <a:t>Real jump (+5.50) is ~3× larger.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Helvetica Neue"/>
              </a:rPr>
              <a:t>Alberta opioid mortality and COVID-19  |  personal learning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Helvetica Neue"/>
              </a:rP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Helvetica Neue"/>
              </a:rPr>
              <a:t>What this identifies — and what it doesn't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B4"/>
                </a:solidFill>
                <a:latin typeface="Helvetica Neue"/>
              </a:rPr>
              <a:t>What we can claim</a:t>
            </a:r>
          </a:p>
          <a:p>
            <a:r>
              <a:rPr sz="1400" b="0">
                <a:solidFill>
                  <a:srgbClr val="1A1A1A"/>
                </a:solidFill>
                <a:latin typeface="Helvetica Neue"/>
              </a:rPr>
              <a:t>A sharp, large, robust break in Alberta opioid mortality at 2020 Q2.</a:t>
            </a:r>
          </a:p>
          <a:p>
            <a:r>
              <a:rPr sz="1300" b="0">
                <a:solidFill>
                  <a:srgbClr val="555555"/>
                </a:solidFill>
                <a:latin typeface="Helvetica Neue"/>
              </a:rPr>
              <a:t>Pre-trend flat, placebos null, donut and NB cross-check consistent. This is a real shift in the data, not an artefact of specification choices.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0392B"/>
                </a:solidFill>
                <a:latin typeface="Helvetica Neue"/>
              </a:rPr>
              <a:t>What we cannot claim</a:t>
            </a:r>
          </a:p>
          <a:p>
            <a:r>
              <a:rPr sz="1400" b="0">
                <a:solidFill>
                  <a:srgbClr val="1A1A1A"/>
                </a:solidFill>
                <a:latin typeface="Helvetica Neue"/>
              </a:rPr>
              <a:t>That COVID-19 itself caused the jump.</a:t>
            </a:r>
          </a:p>
          <a:p>
            <a:r>
              <a:rPr sz="1300" b="0">
                <a:solidFill>
                  <a:srgbClr val="555555"/>
                </a:solidFill>
                <a:latin typeface="Helvetica Neue"/>
              </a:rPr>
              <a:t>Many things moved at the same cutoff: the virus, public health emergency response, supply chain for the unregulated drug supply, harm reduction service capacity, mental health services, social isolation, and economic shock. ITS with a single cutoff cannot separate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B4"/>
                </a:solidFill>
                <a:latin typeface="Helvetica Neue"/>
              </a:rPr>
              <a:t>Next steps to sharpen identification</a:t>
            </a:r>
          </a:p>
          <a:p>
            <a:r>
              <a:rPr sz="1300" b="0">
                <a:solidFill>
                  <a:srgbClr val="1A1A1A"/>
                </a:solidFill>
                <a:latin typeface="Helvetica Neue"/>
              </a:rPr>
              <a:t>1. Difference-in-discontinuities using other provinces with different pandemic-response timing</a:t>
            </a:r>
          </a:p>
          <a:p>
            <a:r>
              <a:rPr sz="1300" b="0">
                <a:solidFill>
                  <a:srgbClr val="1A1A1A"/>
                </a:solidFill>
                <a:latin typeface="Helvetica Neue"/>
              </a:rPr>
              <a:t>2. Synthetic control to build a counterfactual Alberta without COVID</a:t>
            </a:r>
          </a:p>
          <a:p>
            <a:r>
              <a:rPr sz="1300" b="0">
                <a:solidFill>
                  <a:srgbClr val="1A1A1A"/>
                </a:solidFill>
                <a:latin typeface="Helvetica Neue"/>
              </a:rPr>
              <a:t>3. Stratification by age, sex, zone, and substance type to localise where the shift concentrated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Helvetica Neue"/>
              </a:rPr>
              <a:t>Alberta opioid mortality and COVID-19  |  personal learning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Helvetica Neue"/>
              </a:rPr>
              <a:t>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