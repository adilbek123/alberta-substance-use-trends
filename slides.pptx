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Alberta opioid mortality around the COVID-19 onset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55555"/>
                </a:solidFill>
                <a:latin typeface="Calibri"/>
              </a:rPr>
              <a:t>An interrupted time series analysis using federal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Calibri"/>
              </a:rPr>
              <a:t>Adilbek Sultanov</a:t>
            </a:r>
          </a:p>
          <a:p>
            <a:r>
              <a:rPr sz="1200">
                <a:solidFill>
                  <a:srgbClr val="555555"/>
                </a:solidFill>
                <a:latin typeface="Calibri"/>
              </a:rPr>
              <a:t>Independent project, May 2026</a:t>
            </a:r>
          </a:p>
          <a:p>
            <a:r>
              <a:rPr sz="1100">
                <a:solidFill>
                  <a:srgbClr val="555555"/>
                </a:solidFill>
                <a:latin typeface="Calibri"/>
              </a:rPr>
              <a:t>github.com/Adilbek123/alberta-substance-use-trends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0000"/>
                </a:solidFill>
                <a:latin typeface="Calibri"/>
              </a:rPr>
              <a:t>COVID-19 hit Alberta in March 2020, and many other things shifted at the same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2588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COVID-19 was declared a pandemic by the WHO on 11 March 2020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Alberta declared a public health emergency on 17 March 2020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Roughly 60,000 Canadians have died from COVID-19 directly between 2020 and 2023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Beyond the virus itself, the pandemic disrupted multiple systems at once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Drug supply chains for the unregulated drug market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Harm reduction services (e.g., supervised consumption sites operating at reduced capacity)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Mental health and addiction services (in-person care disruption, telehealth ramp-up lag)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Employment, housing, and social connection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Other provinces reported a surge in opioid deaths from 2020 onward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British Columbia, Ontario, and others saw sharp increases at roughly the same time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Alberta's pattern has not been quantified at this granularity in public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0000"/>
                </a:solidFill>
                <a:latin typeface="Calibri"/>
              </a:rPr>
              <a:t>Did Alberta opioid mortality jump at the COVID onset, and is it real or noise?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2588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Pre-COVID context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Alberta opioid death rate sat around 4 per 100,000 residents per quarter, 2016 through early 2020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Flat trend across that period, no sustained rise or fall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If a jump occurred at COVID, two things matter for policy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How large was it? This sets the post-COVID baseline against which Recovery Model progress will be measured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Is it real, or could random variation in a noisy series explain it? This determines whether the change calls for action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This analysis answers both questions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Whether the level shift exists at the cutoff, separately from the existing trend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Whether the size of the shift is meaningfully larger than what random variation could produce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0000"/>
                </a:solidFill>
                <a:latin typeface="Calibri"/>
              </a:rPr>
              <a:t>An interrupted time series compares the pre-COVID and post-COVID periods statistically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2588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Method: interrupted time series (also called segmented regression)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Fits one trend to the pre-COVID years, another to the post-COVID years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Measures the gap between them at the cutoff (2020 Q2, first full quarter under the emergency)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Tests whether that gap is meaningfully larger than the natural noise in the data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Data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Opioid deaths: Public Health Agency of Canada Health Infobase, Alberta quarterly, 2016 Q1 to 2025 Q3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Population: Statistics Canada Table 17-10-0009-01, used to convert counts to a rate per 100,000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No internal Government of Alberta data is used; all sources are public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Robustness checks confirm the result is not an artifact of method choices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Placebo cutoffs placed in the pre-period (should produce no jump if the design is credible)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Drop the quarter that straddles the cutoff and refit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Cross-check using a count model with a population offset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0000"/>
                </a:solidFill>
                <a:latin typeface="Calibri"/>
              </a:rPr>
              <a:t>The death rate roughly doubled at 2020 Q2, sharp, large, and robust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2588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rdit_opioid_de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7680960" cy="46494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A1A1A"/>
                </a:solidFill>
                <a:latin typeface="Calibri"/>
              </a:rPr>
              <a:t>•  Pre-COVID average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About 4 deaths per 100,000 per quarter</a:t>
            </a:r>
          </a:p>
          <a:p>
            <a:pPr/>
            <a:r>
              <a:rPr sz="1200">
                <a:solidFill>
                  <a:srgbClr val="1A1A1A"/>
                </a:solidFill>
                <a:latin typeface="Calibri"/>
              </a:rPr>
              <a:t>•  Post-COVID average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About 8 deaths per 100,000 per quarter</a:t>
            </a:r>
          </a:p>
          <a:p>
            <a:pPr/>
            <a:r>
              <a:rPr sz="1200">
                <a:solidFill>
                  <a:srgbClr val="1A1A1A"/>
                </a:solidFill>
                <a:latin typeface="Calibri"/>
              </a:rPr>
              <a:t>•  Level shift at the cutoff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About 5.5 per 100,000 per quarter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Roughly a doubling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Statistically very strong (p &lt; 0.001)</a:t>
            </a:r>
          </a:p>
          <a:p>
            <a:pPr/>
            <a:r>
              <a:rPr sz="1200">
                <a:solidFill>
                  <a:srgbClr val="1A1A1A"/>
                </a:solidFill>
                <a:latin typeface="Calibri"/>
              </a:rPr>
              <a:t>•  Pre-COVID trend was flat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The jump is not part of an existing rise</a:t>
            </a:r>
          </a:p>
          <a:p>
            <a:pPr/>
            <a:r>
              <a:rPr sz="1200">
                <a:solidFill>
                  <a:srgbClr val="1A1A1A"/>
                </a:solidFill>
                <a:latin typeface="Calibri"/>
              </a:rPr>
              <a:t>•  All robustness checks hold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Placebos produce no jump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Drop-quarter estimate moves &lt;3%</a:t>
            </a:r>
          </a:p>
          <a:p>
            <a:pPr lvl="1"/>
            <a:r>
              <a:rPr sz="1000">
                <a:solidFill>
                  <a:srgbClr val="555555"/>
                </a:solidFill>
                <a:latin typeface="Calibri"/>
              </a:rPr>
              <a:t>–  Cross-check confirms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0000"/>
                </a:solidFill>
                <a:latin typeface="Calibri"/>
              </a:rPr>
              <a:t>The pandemic as a whole shifted opioid mortality, not the virus alone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2588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The total effect attributable to the pandemic, including its downstream consequences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Virus, public health measures, drug supply disruption, harm reduction capacity, mental health service disruption, isolation, economic shock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These came together by construction, not by coincidence; a pandemic without them is not a counterfactual that exists in any data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The analysis cannot separate which channel did the most damage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Decomposing into supply vs. services vs. isolation vs. economic shock requires different data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Drug-checking composition, service utilization series, and similar mechanism-level sources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Comparing Alberta to other provinces would not isolate a virus-only effect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Every Canadian province faced COVID and its policy response at essentially the same time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A peer comparison would identify Alberta-specific deviation from the common pattern, not the virus channel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0000"/>
                </a:solidFill>
                <a:latin typeface="Calibri"/>
              </a:rPr>
              <a:t>Post-COVID baseline is higher than pre-COVID, and recovery is already underway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2588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For Recovery Model performance measurement, the baseline matters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The post-COVID baseline is roughly double the pre-COVID baseline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Any 'return to baseline' framing needs to be explicit about which baseline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The trajectory is not flat: a real recovery is already visible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The post-COVID period peaked in 2021 Q4 and has been declining since 2024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A single average over the post-period masks this dynamic</a:t>
            </a:r>
          </a:p>
          <a:p>
            <a:pPr/>
            <a:r>
              <a:rPr sz="1400">
                <a:solidFill>
                  <a:srgbClr val="1A1A1A"/>
                </a:solidFill>
                <a:latin typeface="Calibri"/>
              </a:rPr>
              <a:t>•  The next analytical work is decomposition, not better identification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Which channel drove most of the shift (supply, services, isolation, economic)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Which age groups, geographic zones, and substance types concentrate the increase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Modelling the rise-to-peak-and-decline shape directly, rather than a single level shift</a:t>
            </a:r>
          </a:p>
          <a:p>
            <a:pPr lvl="1"/>
            <a:r>
              <a:rPr sz="1200">
                <a:solidFill>
                  <a:srgbClr val="555555"/>
                </a:solidFill>
                <a:latin typeface="Calibri"/>
              </a:rPr>
              <a:t>–  Cumulative excess deaths through end-of-sample as a policy-relevant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