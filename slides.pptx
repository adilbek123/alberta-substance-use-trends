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377440"/>
            <a:ext cx="10698480" cy="1097280"/>
          </a:xfrm>
          <a:prstGeom prst="rect">
            <a:avLst/>
          </a:prstGeom>
          <a:noFill/>
        </p:spPr>
        <p:txBody>
          <a:bodyPr wrap="none">
            <a:spAutoFit/>
          </a:bodyPr>
          <a:lstStyle/>
          <a:p>
            <a:r>
              <a:rPr sz="3400" b="1">
                <a:solidFill>
                  <a:srgbClr val="000000"/>
                </a:solidFill>
                <a:latin typeface="Calibri"/>
              </a:rPr>
              <a:t>Alberta Opioid Mortality Around the COVID-19 Onset</a:t>
            </a:r>
          </a:p>
        </p:txBody>
      </p:sp>
      <p:sp>
        <p:nvSpPr>
          <p:cNvPr id="3" name="TextBox 2"/>
          <p:cNvSpPr txBox="1"/>
          <p:nvPr/>
        </p:nvSpPr>
        <p:spPr>
          <a:xfrm>
            <a:off x="731520" y="3474720"/>
            <a:ext cx="10698480" cy="457200"/>
          </a:xfrm>
          <a:prstGeom prst="rect">
            <a:avLst/>
          </a:prstGeom>
          <a:noFill/>
        </p:spPr>
        <p:txBody>
          <a:bodyPr wrap="none">
            <a:spAutoFit/>
          </a:bodyPr>
          <a:lstStyle/>
          <a:p>
            <a:r>
              <a:rPr sz="1800">
                <a:solidFill>
                  <a:srgbClr val="555555"/>
                </a:solidFill>
                <a:latin typeface="Calibri"/>
              </a:rPr>
              <a:t>Interrupted Time Series Analysis Using Federal Data</a:t>
            </a:r>
          </a:p>
        </p:txBody>
      </p:sp>
      <p:sp>
        <p:nvSpPr>
          <p:cNvPr id="4" name="TextBox 3"/>
          <p:cNvSpPr txBox="1"/>
          <p:nvPr/>
        </p:nvSpPr>
        <p:spPr>
          <a:xfrm>
            <a:off x="731520" y="4572000"/>
            <a:ext cx="10698480" cy="1463040"/>
          </a:xfrm>
          <a:prstGeom prst="rect">
            <a:avLst/>
          </a:prstGeom>
          <a:noFill/>
        </p:spPr>
        <p:txBody>
          <a:bodyPr wrap="none">
            <a:spAutoFit/>
          </a:bodyPr>
          <a:lstStyle/>
          <a:p>
            <a:r>
              <a:rPr sz="1400">
                <a:solidFill>
                  <a:srgbClr val="000000"/>
                </a:solidFill>
                <a:latin typeface="Calibri"/>
              </a:rPr>
              <a:t>Adilbek Sultanov</a:t>
            </a:r>
          </a:p>
          <a:p>
            <a:r>
              <a:rPr sz="1200">
                <a:solidFill>
                  <a:srgbClr val="555555"/>
                </a:solidFill>
                <a:latin typeface="Calibri"/>
              </a:rPr>
              <a:t>Independent project, May 2026</a:t>
            </a:r>
          </a:p>
          <a:p>
            <a:r>
              <a:rPr sz="1100">
                <a:solidFill>
                  <a:srgbClr val="555555"/>
                </a:solidFill>
                <a:latin typeface="Calibri"/>
              </a:rPr>
              <a:t>github.com/Adilbek123/alberta-substance-use-trends</a:t>
            </a:r>
          </a:p>
        </p:txBody>
      </p:sp>
      <p:sp>
        <p:nvSpPr>
          <p:cNvPr id="5" name="TextBox 4"/>
          <p:cNvSpPr txBox="1"/>
          <p:nvPr/>
        </p:nvSpPr>
        <p:spPr>
          <a:xfrm>
            <a:off x="11521440" y="6446520"/>
            <a:ext cx="548640" cy="274320"/>
          </a:xfrm>
          <a:prstGeom prst="rect">
            <a:avLst/>
          </a:prstGeom>
          <a:noFill/>
        </p:spPr>
        <p:txBody>
          <a:bodyPr wrap="none">
            <a:spAutoFit/>
          </a:bodyPr>
          <a:lstStyle/>
          <a:p>
            <a:pPr algn="r"/>
            <a:r>
              <a:rPr sz="1000">
                <a:solidFill>
                  <a:srgbClr val="999999"/>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r>
              <a:rPr sz="2600" b="1">
                <a:solidFill>
                  <a:srgbClr val="000000"/>
                </a:solidFill>
                <a:latin typeface="Calibri"/>
              </a:rPr>
              <a:t>Issue</a:t>
            </a:r>
          </a:p>
        </p:txBody>
      </p:sp>
      <p:cxnSp>
        <p:nvCxnSpPr>
          <p:cNvPr id="3" name="Connector 2"/>
          <p:cNvCxnSpPr/>
          <p:nvPr/>
        </p:nvCxnSpPr>
        <p:spPr>
          <a:xfrm>
            <a:off x="548640" y="960120"/>
            <a:ext cx="11064240"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1371600"/>
            <a:ext cx="10972800" cy="4572000"/>
          </a:xfrm>
          <a:prstGeom prst="rect">
            <a:avLst/>
          </a:prstGeom>
          <a:noFill/>
        </p:spPr>
        <p:txBody>
          <a:bodyPr wrap="square">
            <a:spAutoFit/>
          </a:bodyPr>
          <a:lstStyle/>
          <a:p>
            <a:pPr/>
            <a:r>
              <a:rPr sz="1600">
                <a:solidFill>
                  <a:srgbClr val="1A1A1A"/>
                </a:solidFill>
                <a:latin typeface="Calibri"/>
              </a:rPr>
              <a:t>•  Opioid mortality in Alberta has risen sharply since the start of the COVID-19 pandemic, but the size and timing of the shift have not been quantified for this analysis at quarterly resolution.</a:t>
            </a:r>
          </a:p>
          <a:p>
            <a:pPr/>
            <a:r>
              <a:rPr sz="1600">
                <a:solidFill>
                  <a:srgbClr val="1A1A1A"/>
                </a:solidFill>
                <a:latin typeface="Calibri"/>
              </a:rPr>
              <a:t>•  Without a defensible measurement of the post-COVID baseline, performance under the Alberta Recovery Model cannot be evaluated against a meaningful counterfactual.</a:t>
            </a:r>
          </a:p>
          <a:p>
            <a:pPr/>
            <a:r>
              <a:rPr sz="1600">
                <a:solidFill>
                  <a:srgbClr val="1A1A1A"/>
                </a:solidFill>
                <a:latin typeface="Calibri"/>
              </a:rPr>
              <a:t>•  This analysis quantifies the level shift at the COVID onset using publicly available federal data, and tests whether the shift is statistically meaningful or could be explained by random variation in a noisy series.</a:t>
            </a:r>
          </a:p>
        </p:txBody>
      </p:sp>
      <p:sp>
        <p:nvSpPr>
          <p:cNvPr id="5" name="TextBox 4"/>
          <p:cNvSpPr txBox="1"/>
          <p:nvPr/>
        </p:nvSpPr>
        <p:spPr>
          <a:xfrm>
            <a:off x="548640" y="6446520"/>
            <a:ext cx="10058400" cy="274320"/>
          </a:xfrm>
          <a:prstGeom prst="rect">
            <a:avLst/>
          </a:prstGeom>
          <a:noFill/>
        </p:spPr>
        <p:txBody>
          <a:bodyPr wrap="none">
            <a:spAutoFit/>
          </a:bodyPr>
          <a:lstStyle/>
          <a:p>
            <a:r>
              <a:rPr sz="900">
                <a:solidFill>
                  <a:srgbClr val="999999"/>
                </a:solidFill>
                <a:latin typeface="Calibri"/>
              </a:rPr>
              <a:t>Alberta opioid mortality around COVID-19  |  independent project</a:t>
            </a:r>
          </a:p>
        </p:txBody>
      </p:sp>
      <p:sp>
        <p:nvSpPr>
          <p:cNvPr id="6" name="TextBox 5"/>
          <p:cNvSpPr txBox="1"/>
          <p:nvPr/>
        </p:nvSpPr>
        <p:spPr>
          <a:xfrm>
            <a:off x="11521440" y="6446520"/>
            <a:ext cx="548640" cy="274320"/>
          </a:xfrm>
          <a:prstGeom prst="rect">
            <a:avLst/>
          </a:prstGeom>
          <a:noFill/>
        </p:spPr>
        <p:txBody>
          <a:bodyPr wrap="none">
            <a:spAutoFit/>
          </a:bodyPr>
          <a:lstStyle/>
          <a:p>
            <a:pPr algn="r"/>
            <a:r>
              <a:rPr sz="1000">
                <a:solidFill>
                  <a:srgbClr val="999999"/>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r>
              <a:rPr sz="2600" b="1">
                <a:solidFill>
                  <a:srgbClr val="000000"/>
                </a:solidFill>
                <a:latin typeface="Calibri"/>
              </a:rPr>
              <a:t>Purpose</a:t>
            </a:r>
          </a:p>
        </p:txBody>
      </p:sp>
      <p:cxnSp>
        <p:nvCxnSpPr>
          <p:cNvPr id="3" name="Connector 2"/>
          <p:cNvCxnSpPr/>
          <p:nvPr/>
        </p:nvCxnSpPr>
        <p:spPr>
          <a:xfrm>
            <a:off x="548640" y="960120"/>
            <a:ext cx="11064240"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1371600"/>
            <a:ext cx="10972800" cy="4572000"/>
          </a:xfrm>
          <a:prstGeom prst="rect">
            <a:avLst/>
          </a:prstGeom>
          <a:noFill/>
        </p:spPr>
        <p:txBody>
          <a:bodyPr wrap="square">
            <a:spAutoFit/>
          </a:bodyPr>
          <a:lstStyle/>
          <a:p>
            <a:pPr/>
            <a:r>
              <a:rPr sz="1500">
                <a:solidFill>
                  <a:srgbClr val="1A1A1A"/>
                </a:solidFill>
                <a:latin typeface="Calibri"/>
              </a:rPr>
              <a:t>•  Establish whether Alberta's opioid death rate shifted at the COVID-19 onset</a:t>
            </a:r>
          </a:p>
          <a:p>
            <a:pPr lvl="1"/>
            <a:r>
              <a:rPr sz="1200">
                <a:solidFill>
                  <a:srgbClr val="555555"/>
                </a:solidFill>
                <a:latin typeface="Calibri"/>
              </a:rPr>
              <a:t>–  Identify the size of the shift, if any</a:t>
            </a:r>
          </a:p>
          <a:p>
            <a:pPr lvl="1"/>
            <a:r>
              <a:rPr sz="1200">
                <a:solidFill>
                  <a:srgbClr val="555555"/>
                </a:solidFill>
                <a:latin typeface="Calibri"/>
              </a:rPr>
              <a:t>–  Test whether the shift is meaningfully larger than the natural noise in the data</a:t>
            </a:r>
          </a:p>
          <a:p>
            <a:pPr/>
            <a:r>
              <a:rPr sz="1500">
                <a:solidFill>
                  <a:srgbClr val="1A1A1A"/>
                </a:solidFill>
                <a:latin typeface="Calibri"/>
              </a:rPr>
              <a:t>•  Inform the post-COVID baseline used for Recovery Model performance measurement</a:t>
            </a:r>
          </a:p>
          <a:p>
            <a:pPr lvl="1"/>
            <a:r>
              <a:rPr sz="1200">
                <a:solidFill>
                  <a:srgbClr val="555555"/>
                </a:solidFill>
                <a:latin typeface="Calibri"/>
              </a:rPr>
              <a:t>–  The baseline before the pandemic is materially different from the baseline after</a:t>
            </a:r>
          </a:p>
          <a:p>
            <a:pPr lvl="1"/>
            <a:r>
              <a:rPr sz="1200">
                <a:solidFill>
                  <a:srgbClr val="555555"/>
                </a:solidFill>
                <a:latin typeface="Calibri"/>
              </a:rPr>
              <a:t>–  Any performance framing needs to be explicit about which baseline it compares to</a:t>
            </a:r>
          </a:p>
          <a:p>
            <a:pPr/>
            <a:r>
              <a:rPr sz="1500">
                <a:solidFill>
                  <a:srgbClr val="1A1A1A"/>
                </a:solidFill>
                <a:latin typeface="Calibri"/>
              </a:rPr>
              <a:t>•  Demonstrate an analytical approach the Ministry's Business Intelligence team could apply to other indicators</a:t>
            </a:r>
          </a:p>
          <a:p>
            <a:pPr lvl="1"/>
            <a:r>
              <a:rPr sz="1200">
                <a:solidFill>
                  <a:srgbClr val="555555"/>
                </a:solidFill>
                <a:latin typeface="Calibri"/>
              </a:rPr>
              <a:t>–  The same method applies to hospitalization, emergency department, and EMS data</a:t>
            </a:r>
          </a:p>
          <a:p>
            <a:pPr lvl="1"/>
            <a:r>
              <a:rPr sz="1200">
                <a:solidFill>
                  <a:srgbClr val="555555"/>
                </a:solidFill>
                <a:latin typeface="Calibri"/>
              </a:rPr>
              <a:t>–  Same data source, same code structure, different outcome variable</a:t>
            </a:r>
          </a:p>
        </p:txBody>
      </p:sp>
      <p:sp>
        <p:nvSpPr>
          <p:cNvPr id="5" name="TextBox 4"/>
          <p:cNvSpPr txBox="1"/>
          <p:nvPr/>
        </p:nvSpPr>
        <p:spPr>
          <a:xfrm>
            <a:off x="548640" y="6446520"/>
            <a:ext cx="10058400" cy="274320"/>
          </a:xfrm>
          <a:prstGeom prst="rect">
            <a:avLst/>
          </a:prstGeom>
          <a:noFill/>
        </p:spPr>
        <p:txBody>
          <a:bodyPr wrap="none">
            <a:spAutoFit/>
          </a:bodyPr>
          <a:lstStyle/>
          <a:p>
            <a:r>
              <a:rPr sz="900">
                <a:solidFill>
                  <a:srgbClr val="999999"/>
                </a:solidFill>
                <a:latin typeface="Calibri"/>
              </a:rPr>
              <a:t>Alberta opioid mortality around COVID-19  |  independent project</a:t>
            </a:r>
          </a:p>
        </p:txBody>
      </p:sp>
      <p:sp>
        <p:nvSpPr>
          <p:cNvPr id="6" name="TextBox 5"/>
          <p:cNvSpPr txBox="1"/>
          <p:nvPr/>
        </p:nvSpPr>
        <p:spPr>
          <a:xfrm>
            <a:off x="11521440" y="6446520"/>
            <a:ext cx="548640" cy="274320"/>
          </a:xfrm>
          <a:prstGeom prst="rect">
            <a:avLst/>
          </a:prstGeom>
          <a:noFill/>
        </p:spPr>
        <p:txBody>
          <a:bodyPr wrap="none">
            <a:spAutoFit/>
          </a:bodyPr>
          <a:lstStyle/>
          <a:p>
            <a:pPr algn="r"/>
            <a:r>
              <a:rPr sz="1000">
                <a:solidFill>
                  <a:srgbClr val="999999"/>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r>
              <a:rPr sz="2600" b="1">
                <a:solidFill>
                  <a:srgbClr val="000000"/>
                </a:solidFill>
                <a:latin typeface="Calibri"/>
              </a:rPr>
              <a:t>Background</a:t>
            </a:r>
          </a:p>
        </p:txBody>
      </p:sp>
      <p:cxnSp>
        <p:nvCxnSpPr>
          <p:cNvPr id="3" name="Connector 2"/>
          <p:cNvCxnSpPr/>
          <p:nvPr/>
        </p:nvCxnSpPr>
        <p:spPr>
          <a:xfrm>
            <a:off x="548640" y="960120"/>
            <a:ext cx="11064240"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1371600"/>
            <a:ext cx="10972800" cy="4572000"/>
          </a:xfrm>
          <a:prstGeom prst="rect">
            <a:avLst/>
          </a:prstGeom>
          <a:noFill/>
        </p:spPr>
        <p:txBody>
          <a:bodyPr wrap="square">
            <a:spAutoFit/>
          </a:bodyPr>
          <a:lstStyle/>
          <a:p>
            <a:pPr/>
            <a:r>
              <a:rPr sz="1400">
                <a:solidFill>
                  <a:srgbClr val="1A1A1A"/>
                </a:solidFill>
                <a:latin typeface="Calibri"/>
              </a:rPr>
              <a:t>•  Alberta has been responding to an opioid crisis since the mid-2010s</a:t>
            </a:r>
          </a:p>
          <a:p>
            <a:pPr lvl="1"/>
            <a:r>
              <a:rPr sz="1200">
                <a:solidFill>
                  <a:srgbClr val="555555"/>
                </a:solidFill>
                <a:latin typeface="Calibri"/>
              </a:rPr>
              <a:t>–  Fentanyl emerged in Alberta's unregulated drug supply through 2014-2016, replacing earlier prescription-opioid harms</a:t>
            </a:r>
          </a:p>
          <a:p>
            <a:pPr lvl="1"/>
            <a:r>
              <a:rPr sz="1200">
                <a:solidFill>
                  <a:srgbClr val="555555"/>
                </a:solidFill>
                <a:latin typeface="Calibri"/>
              </a:rPr>
              <a:t>–  In 2016 Alberta recorded 611 apparent opioid-related deaths</a:t>
            </a:r>
          </a:p>
          <a:p>
            <a:pPr lvl="1"/>
            <a:r>
              <a:rPr sz="1200">
                <a:solidFill>
                  <a:srgbClr val="555555"/>
                </a:solidFill>
                <a:latin typeface="Calibri"/>
              </a:rPr>
              <a:t>–  In May 2017 the province established a Minister's Opioid Emergency Response Commission under the Public Health Act</a:t>
            </a:r>
          </a:p>
          <a:p>
            <a:pPr/>
            <a:r>
              <a:rPr sz="1400">
                <a:solidFill>
                  <a:srgbClr val="1A1A1A"/>
                </a:solidFill>
                <a:latin typeface="Calibri"/>
              </a:rPr>
              <a:t>•  By 2016-2019, Alberta's opioid mortality had stabilised at a high level</a:t>
            </a:r>
          </a:p>
          <a:p>
            <a:pPr lvl="1"/>
            <a:r>
              <a:rPr sz="1200">
                <a:solidFill>
                  <a:srgbClr val="555555"/>
                </a:solidFill>
                <a:latin typeface="Calibri"/>
              </a:rPr>
              <a:t>–  Quarterly opioid death rate sat around 4 per 100,000 residents from 2016 through early 2020</a:t>
            </a:r>
          </a:p>
          <a:p>
            <a:pPr lvl="1"/>
            <a:r>
              <a:rPr sz="1200">
                <a:solidFill>
                  <a:srgbClr val="555555"/>
                </a:solidFill>
                <a:latin typeface="Calibri"/>
              </a:rPr>
              <a:t>–  Roughly 170-200 deaths per quarter, with no sustained upward or downward trend over the four-year period</a:t>
            </a:r>
          </a:p>
          <a:p>
            <a:pPr lvl="1"/>
            <a:r>
              <a:rPr sz="1200">
                <a:solidFill>
                  <a:srgbClr val="555555"/>
                </a:solidFill>
                <a:latin typeface="Calibri"/>
              </a:rPr>
              <a:t>–  This is the pre-COVID baseline used in this analysis</a:t>
            </a:r>
          </a:p>
          <a:p>
            <a:pPr/>
            <a:r>
              <a:rPr sz="1400">
                <a:solidFill>
                  <a:srgbClr val="1A1A1A"/>
                </a:solidFill>
                <a:latin typeface="Calibri"/>
              </a:rPr>
              <a:t>•  In March 2020 the COVID-19 pandemic intersected with the existing opioid crisis</a:t>
            </a:r>
          </a:p>
          <a:p>
            <a:pPr lvl="1"/>
            <a:r>
              <a:rPr sz="1200">
                <a:solidFill>
                  <a:srgbClr val="555555"/>
                </a:solidFill>
                <a:latin typeface="Calibri"/>
              </a:rPr>
              <a:t>–  WHO characterized COVID-19 as a pandemic on 11 March 2020</a:t>
            </a:r>
          </a:p>
          <a:p>
            <a:pPr lvl="1"/>
            <a:r>
              <a:rPr sz="1200">
                <a:solidFill>
                  <a:srgbClr val="555555"/>
                </a:solidFill>
                <a:latin typeface="Calibri"/>
              </a:rPr>
              <a:t>–  Alberta declared a provincial public health emergency on 17 March 2020</a:t>
            </a:r>
          </a:p>
          <a:p>
            <a:pPr lvl="1"/>
            <a:r>
              <a:rPr sz="1200">
                <a:solidFill>
                  <a:srgbClr val="555555"/>
                </a:solidFill>
                <a:latin typeface="Calibri"/>
              </a:rPr>
              <a:t>–  Federal data shows opioid mortality rose sharply across Canada from 2020 onward; the size and timing of Alberta's shift have not been quantified at this resolution in public analysis</a:t>
            </a:r>
          </a:p>
        </p:txBody>
      </p:sp>
      <p:sp>
        <p:nvSpPr>
          <p:cNvPr id="5" name="TextBox 4"/>
          <p:cNvSpPr txBox="1"/>
          <p:nvPr/>
        </p:nvSpPr>
        <p:spPr>
          <a:xfrm>
            <a:off x="548640" y="6446520"/>
            <a:ext cx="10058400" cy="274320"/>
          </a:xfrm>
          <a:prstGeom prst="rect">
            <a:avLst/>
          </a:prstGeom>
          <a:noFill/>
        </p:spPr>
        <p:txBody>
          <a:bodyPr wrap="none">
            <a:spAutoFit/>
          </a:bodyPr>
          <a:lstStyle/>
          <a:p>
            <a:r>
              <a:rPr sz="900">
                <a:solidFill>
                  <a:srgbClr val="999999"/>
                </a:solidFill>
                <a:latin typeface="Calibri"/>
              </a:rPr>
              <a:t>Alberta opioid mortality around COVID-19  |  independent project</a:t>
            </a:r>
          </a:p>
        </p:txBody>
      </p:sp>
      <p:sp>
        <p:nvSpPr>
          <p:cNvPr id="6" name="TextBox 5"/>
          <p:cNvSpPr txBox="1"/>
          <p:nvPr/>
        </p:nvSpPr>
        <p:spPr>
          <a:xfrm>
            <a:off x="11521440" y="6446520"/>
            <a:ext cx="548640" cy="274320"/>
          </a:xfrm>
          <a:prstGeom prst="rect">
            <a:avLst/>
          </a:prstGeom>
          <a:noFill/>
        </p:spPr>
        <p:txBody>
          <a:bodyPr wrap="none">
            <a:spAutoFit/>
          </a:bodyPr>
          <a:lstStyle/>
          <a:p>
            <a:pPr algn="r"/>
            <a:r>
              <a:rPr sz="1000">
                <a:solidFill>
                  <a:srgbClr val="999999"/>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r>
              <a:rPr sz="2600" b="1">
                <a:solidFill>
                  <a:srgbClr val="000000"/>
                </a:solidFill>
                <a:latin typeface="Calibri"/>
              </a:rPr>
              <a:t>Approach</a:t>
            </a:r>
          </a:p>
        </p:txBody>
      </p:sp>
      <p:cxnSp>
        <p:nvCxnSpPr>
          <p:cNvPr id="3" name="Connector 2"/>
          <p:cNvCxnSpPr/>
          <p:nvPr/>
        </p:nvCxnSpPr>
        <p:spPr>
          <a:xfrm>
            <a:off x="548640" y="960120"/>
            <a:ext cx="11064240"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1371600"/>
            <a:ext cx="10972800" cy="4572000"/>
          </a:xfrm>
          <a:prstGeom prst="rect">
            <a:avLst/>
          </a:prstGeom>
          <a:noFill/>
        </p:spPr>
        <p:txBody>
          <a:bodyPr wrap="square">
            <a:spAutoFit/>
          </a:bodyPr>
          <a:lstStyle/>
          <a:p>
            <a:pPr/>
            <a:r>
              <a:rPr sz="1400">
                <a:solidFill>
                  <a:srgbClr val="1A1A1A"/>
                </a:solidFill>
                <a:latin typeface="Calibri"/>
              </a:rPr>
              <a:t>•  Method: interrupted time series (segmented regression)</a:t>
            </a:r>
          </a:p>
          <a:p>
            <a:pPr lvl="1"/>
            <a:r>
              <a:rPr sz="1200">
                <a:solidFill>
                  <a:srgbClr val="555555"/>
                </a:solidFill>
                <a:latin typeface="Calibri"/>
              </a:rPr>
              <a:t>–  Fits one trend to the pre-COVID years, another to the post-COVID years</a:t>
            </a:r>
          </a:p>
          <a:p>
            <a:pPr lvl="1"/>
            <a:r>
              <a:rPr sz="1200">
                <a:solidFill>
                  <a:srgbClr val="555555"/>
                </a:solidFill>
                <a:latin typeface="Calibri"/>
              </a:rPr>
              <a:t>–  Measures the gap between them at the cutoff (2020 Q2, first full quarter under the emergency)</a:t>
            </a:r>
          </a:p>
          <a:p>
            <a:pPr lvl="1"/>
            <a:r>
              <a:rPr sz="1200">
                <a:solidFill>
                  <a:srgbClr val="555555"/>
                </a:solidFill>
                <a:latin typeface="Calibri"/>
              </a:rPr>
              <a:t>–  Tests whether that gap is meaningfully larger than the natural noise in the data</a:t>
            </a:r>
          </a:p>
          <a:p>
            <a:pPr/>
            <a:r>
              <a:rPr sz="1400">
                <a:solidFill>
                  <a:srgbClr val="1A1A1A"/>
                </a:solidFill>
                <a:latin typeface="Calibri"/>
              </a:rPr>
              <a:t>•  Data</a:t>
            </a:r>
          </a:p>
          <a:p>
            <a:pPr lvl="1"/>
            <a:r>
              <a:rPr sz="1200">
                <a:solidFill>
                  <a:srgbClr val="555555"/>
                </a:solidFill>
                <a:latin typeface="Calibri"/>
              </a:rPr>
              <a:t>–  Opioid deaths: Public Health Agency of Canada, Health Infobase, Alberta quarterly, 2016 Q1 to 2025 Q3</a:t>
            </a:r>
          </a:p>
          <a:p>
            <a:pPr lvl="1"/>
            <a:r>
              <a:rPr sz="1200">
                <a:solidFill>
                  <a:srgbClr val="555555"/>
                </a:solidFill>
                <a:latin typeface="Calibri"/>
              </a:rPr>
              <a:t>–  Population: Statistics Canada Table 17-10-0009-01, used to convert counts to a rate per 100,000</a:t>
            </a:r>
          </a:p>
          <a:p>
            <a:pPr lvl="1"/>
            <a:r>
              <a:rPr sz="1200">
                <a:solidFill>
                  <a:srgbClr val="555555"/>
                </a:solidFill>
                <a:latin typeface="Calibri"/>
              </a:rPr>
              <a:t>–  No internal Government of Alberta data is used; all sources are public</a:t>
            </a:r>
          </a:p>
          <a:p>
            <a:pPr/>
            <a:r>
              <a:rPr sz="1400">
                <a:solidFill>
                  <a:srgbClr val="1A1A1A"/>
                </a:solidFill>
                <a:latin typeface="Calibri"/>
              </a:rPr>
              <a:t>•  Robustness checks confirm the result is not an artefact of method choices</a:t>
            </a:r>
          </a:p>
          <a:p>
            <a:pPr lvl="1"/>
            <a:r>
              <a:rPr sz="1200">
                <a:solidFill>
                  <a:srgbClr val="555555"/>
                </a:solidFill>
                <a:latin typeface="Calibri"/>
              </a:rPr>
              <a:t>–  Placebo cutoffs placed in the pre-period (should produce no jump if the design is credible)</a:t>
            </a:r>
          </a:p>
          <a:p>
            <a:pPr lvl="1"/>
            <a:r>
              <a:rPr sz="1200">
                <a:solidFill>
                  <a:srgbClr val="555555"/>
                </a:solidFill>
                <a:latin typeface="Calibri"/>
              </a:rPr>
              <a:t>–  Drop the quarter that straddles the cutoff and refit</a:t>
            </a:r>
          </a:p>
          <a:p>
            <a:pPr lvl="1"/>
            <a:r>
              <a:rPr sz="1200">
                <a:solidFill>
                  <a:srgbClr val="555555"/>
                </a:solidFill>
                <a:latin typeface="Calibri"/>
              </a:rPr>
              <a:t>–  Cross-check using a count model with a population offset</a:t>
            </a:r>
          </a:p>
        </p:txBody>
      </p:sp>
      <p:sp>
        <p:nvSpPr>
          <p:cNvPr id="5" name="TextBox 4"/>
          <p:cNvSpPr txBox="1"/>
          <p:nvPr/>
        </p:nvSpPr>
        <p:spPr>
          <a:xfrm>
            <a:off x="548640" y="6446520"/>
            <a:ext cx="10058400" cy="274320"/>
          </a:xfrm>
          <a:prstGeom prst="rect">
            <a:avLst/>
          </a:prstGeom>
          <a:noFill/>
        </p:spPr>
        <p:txBody>
          <a:bodyPr wrap="none">
            <a:spAutoFit/>
          </a:bodyPr>
          <a:lstStyle/>
          <a:p>
            <a:r>
              <a:rPr sz="900">
                <a:solidFill>
                  <a:srgbClr val="999999"/>
                </a:solidFill>
                <a:latin typeface="Calibri"/>
              </a:rPr>
              <a:t>Alberta opioid mortality around COVID-19  |  independent project</a:t>
            </a:r>
          </a:p>
        </p:txBody>
      </p:sp>
      <p:sp>
        <p:nvSpPr>
          <p:cNvPr id="6" name="TextBox 5"/>
          <p:cNvSpPr txBox="1"/>
          <p:nvPr/>
        </p:nvSpPr>
        <p:spPr>
          <a:xfrm>
            <a:off x="11521440" y="6446520"/>
            <a:ext cx="548640" cy="274320"/>
          </a:xfrm>
          <a:prstGeom prst="rect">
            <a:avLst/>
          </a:prstGeom>
          <a:noFill/>
        </p:spPr>
        <p:txBody>
          <a:bodyPr wrap="none">
            <a:spAutoFit/>
          </a:bodyPr>
          <a:lstStyle/>
          <a:p>
            <a:pPr algn="r"/>
            <a:r>
              <a:rPr sz="1000">
                <a:solidFill>
                  <a:srgbClr val="999999"/>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r>
              <a:rPr sz="2600" b="1">
                <a:solidFill>
                  <a:srgbClr val="000000"/>
                </a:solidFill>
                <a:latin typeface="Calibri"/>
              </a:rPr>
              <a:t>Findings</a:t>
            </a:r>
          </a:p>
        </p:txBody>
      </p:sp>
      <p:cxnSp>
        <p:nvCxnSpPr>
          <p:cNvPr id="3" name="Connector 2"/>
          <p:cNvCxnSpPr/>
          <p:nvPr/>
        </p:nvCxnSpPr>
        <p:spPr>
          <a:xfrm>
            <a:off x="548640" y="960120"/>
            <a:ext cx="11064240"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pic>
        <p:nvPicPr>
          <p:cNvPr id="4" name="Picture 3" descr="rdit_opioid_deaths.png"/>
          <p:cNvPicPr>
            <a:picLocks noChangeAspect="1"/>
          </p:cNvPicPr>
          <p:nvPr/>
        </p:nvPicPr>
        <p:blipFill>
          <a:blip r:embed="rId2"/>
          <a:stretch>
            <a:fillRect/>
          </a:stretch>
        </p:blipFill>
        <p:spPr>
          <a:xfrm>
            <a:off x="457200" y="1143000"/>
            <a:ext cx="7680960" cy="4649481"/>
          </a:xfrm>
          <a:prstGeom prst="rect">
            <a:avLst/>
          </a:prstGeom>
        </p:spPr>
      </p:pic>
      <p:sp>
        <p:nvSpPr>
          <p:cNvPr id="5" name="TextBox 4"/>
          <p:cNvSpPr txBox="1"/>
          <p:nvPr/>
        </p:nvSpPr>
        <p:spPr>
          <a:xfrm>
            <a:off x="8412480" y="1280160"/>
            <a:ext cx="3657600" cy="5029200"/>
          </a:xfrm>
          <a:prstGeom prst="rect">
            <a:avLst/>
          </a:prstGeom>
          <a:noFill/>
        </p:spPr>
        <p:txBody>
          <a:bodyPr wrap="square">
            <a:spAutoFit/>
          </a:bodyPr>
          <a:lstStyle/>
          <a:p>
            <a:pPr/>
            <a:r>
              <a:rPr sz="1200">
                <a:solidFill>
                  <a:srgbClr val="1A1A1A"/>
                </a:solidFill>
                <a:latin typeface="Calibri"/>
              </a:rPr>
              <a:t>•  Pre-COVID average</a:t>
            </a:r>
          </a:p>
          <a:p>
            <a:pPr lvl="1"/>
            <a:r>
              <a:rPr sz="1000">
                <a:solidFill>
                  <a:srgbClr val="555555"/>
                </a:solidFill>
                <a:latin typeface="Calibri"/>
              </a:rPr>
              <a:t>–  About 4 deaths per 100,000 per quarter</a:t>
            </a:r>
          </a:p>
          <a:p>
            <a:pPr/>
            <a:r>
              <a:rPr sz="1200">
                <a:solidFill>
                  <a:srgbClr val="1A1A1A"/>
                </a:solidFill>
                <a:latin typeface="Calibri"/>
              </a:rPr>
              <a:t>•  Post-COVID average</a:t>
            </a:r>
          </a:p>
          <a:p>
            <a:pPr lvl="1"/>
            <a:r>
              <a:rPr sz="1000">
                <a:solidFill>
                  <a:srgbClr val="555555"/>
                </a:solidFill>
                <a:latin typeface="Calibri"/>
              </a:rPr>
              <a:t>–  About 8 deaths per 100,000 per quarter</a:t>
            </a:r>
          </a:p>
          <a:p>
            <a:pPr/>
            <a:r>
              <a:rPr sz="1200">
                <a:solidFill>
                  <a:srgbClr val="1A1A1A"/>
                </a:solidFill>
                <a:latin typeface="Calibri"/>
              </a:rPr>
              <a:t>•  Level shift at the cutoff</a:t>
            </a:r>
          </a:p>
          <a:p>
            <a:pPr lvl="1"/>
            <a:r>
              <a:rPr sz="1000">
                <a:solidFill>
                  <a:srgbClr val="555555"/>
                </a:solidFill>
                <a:latin typeface="Calibri"/>
              </a:rPr>
              <a:t>–  About 5.5 per 100,000 per quarter</a:t>
            </a:r>
          </a:p>
          <a:p>
            <a:pPr lvl="1"/>
            <a:r>
              <a:rPr sz="1000">
                <a:solidFill>
                  <a:srgbClr val="555555"/>
                </a:solidFill>
                <a:latin typeface="Calibri"/>
              </a:rPr>
              <a:t>–  Roughly a doubling of the rate</a:t>
            </a:r>
          </a:p>
          <a:p>
            <a:pPr lvl="1"/>
            <a:r>
              <a:rPr sz="1000">
                <a:solidFill>
                  <a:srgbClr val="555555"/>
                </a:solidFill>
                <a:latin typeface="Calibri"/>
              </a:rPr>
              <a:t>–  Statistically very strong (p &lt; 0.001)</a:t>
            </a:r>
          </a:p>
          <a:p>
            <a:pPr/>
            <a:r>
              <a:rPr sz="1200">
                <a:solidFill>
                  <a:srgbClr val="1A1A1A"/>
                </a:solidFill>
                <a:latin typeface="Calibri"/>
              </a:rPr>
              <a:t>•  Pre-COVID trend was flat</a:t>
            </a:r>
          </a:p>
          <a:p>
            <a:pPr lvl="1"/>
            <a:r>
              <a:rPr sz="1000">
                <a:solidFill>
                  <a:srgbClr val="555555"/>
                </a:solidFill>
                <a:latin typeface="Calibri"/>
              </a:rPr>
              <a:t>–  The jump is not part of an existing rise</a:t>
            </a:r>
          </a:p>
          <a:p>
            <a:pPr/>
            <a:r>
              <a:rPr sz="1200">
                <a:solidFill>
                  <a:srgbClr val="1A1A1A"/>
                </a:solidFill>
                <a:latin typeface="Calibri"/>
              </a:rPr>
              <a:t>•  All robustness checks hold</a:t>
            </a:r>
          </a:p>
          <a:p>
            <a:pPr lvl="1"/>
            <a:r>
              <a:rPr sz="1000">
                <a:solidFill>
                  <a:srgbClr val="555555"/>
                </a:solidFill>
                <a:latin typeface="Calibri"/>
              </a:rPr>
              <a:t>–  Placebos produce no jump</a:t>
            </a:r>
          </a:p>
          <a:p>
            <a:pPr lvl="1"/>
            <a:r>
              <a:rPr sz="1000">
                <a:solidFill>
                  <a:srgbClr val="555555"/>
                </a:solidFill>
                <a:latin typeface="Calibri"/>
              </a:rPr>
              <a:t>–  Drop-quarter estimate moves &lt;3%</a:t>
            </a:r>
          </a:p>
          <a:p>
            <a:pPr lvl="1"/>
            <a:r>
              <a:rPr sz="1000">
                <a:solidFill>
                  <a:srgbClr val="555555"/>
                </a:solidFill>
                <a:latin typeface="Calibri"/>
              </a:rPr>
              <a:t>–  Cross-check confirms</a:t>
            </a:r>
          </a:p>
        </p:txBody>
      </p:sp>
      <p:sp>
        <p:nvSpPr>
          <p:cNvPr id="6" name="TextBox 5"/>
          <p:cNvSpPr txBox="1"/>
          <p:nvPr/>
        </p:nvSpPr>
        <p:spPr>
          <a:xfrm>
            <a:off x="548640" y="6446520"/>
            <a:ext cx="10058400" cy="274320"/>
          </a:xfrm>
          <a:prstGeom prst="rect">
            <a:avLst/>
          </a:prstGeom>
          <a:noFill/>
        </p:spPr>
        <p:txBody>
          <a:bodyPr wrap="none">
            <a:spAutoFit/>
          </a:bodyPr>
          <a:lstStyle/>
          <a:p>
            <a:r>
              <a:rPr sz="900">
                <a:solidFill>
                  <a:srgbClr val="999999"/>
                </a:solidFill>
                <a:latin typeface="Calibri"/>
              </a:rPr>
              <a:t>Alberta opioid mortality around COVID-19  |  independent project</a:t>
            </a:r>
          </a:p>
        </p:txBody>
      </p:sp>
      <p:sp>
        <p:nvSpPr>
          <p:cNvPr id="7" name="TextBox 6"/>
          <p:cNvSpPr txBox="1"/>
          <p:nvPr/>
        </p:nvSpPr>
        <p:spPr>
          <a:xfrm>
            <a:off x="11521440" y="6446520"/>
            <a:ext cx="548640" cy="274320"/>
          </a:xfrm>
          <a:prstGeom prst="rect">
            <a:avLst/>
          </a:prstGeom>
          <a:noFill/>
        </p:spPr>
        <p:txBody>
          <a:bodyPr wrap="none">
            <a:spAutoFit/>
          </a:bodyPr>
          <a:lstStyle/>
          <a:p>
            <a:pPr algn="r"/>
            <a:r>
              <a:rPr sz="1000">
                <a:solidFill>
                  <a:srgbClr val="999999"/>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r>
              <a:rPr sz="2600" b="1">
                <a:solidFill>
                  <a:srgbClr val="000000"/>
                </a:solidFill>
                <a:latin typeface="Calibri"/>
              </a:rPr>
              <a:t>What This Means</a:t>
            </a:r>
          </a:p>
        </p:txBody>
      </p:sp>
      <p:cxnSp>
        <p:nvCxnSpPr>
          <p:cNvPr id="3" name="Connector 2"/>
          <p:cNvCxnSpPr/>
          <p:nvPr/>
        </p:nvCxnSpPr>
        <p:spPr>
          <a:xfrm>
            <a:off x="548640" y="960120"/>
            <a:ext cx="11064240"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1371600"/>
            <a:ext cx="10972800" cy="4572000"/>
          </a:xfrm>
          <a:prstGeom prst="rect">
            <a:avLst/>
          </a:prstGeom>
          <a:noFill/>
        </p:spPr>
        <p:txBody>
          <a:bodyPr wrap="square">
            <a:spAutoFit/>
          </a:bodyPr>
          <a:lstStyle/>
          <a:p>
            <a:pPr/>
            <a:r>
              <a:rPr sz="1400">
                <a:solidFill>
                  <a:srgbClr val="1A1A1A"/>
                </a:solidFill>
                <a:latin typeface="Calibri"/>
              </a:rPr>
              <a:t>•  The analysis identifies the total effect of the COVID-19 pandemic on Alberta opioid mortality</a:t>
            </a:r>
          </a:p>
          <a:p>
            <a:pPr lvl="1"/>
            <a:r>
              <a:rPr sz="1200">
                <a:solidFill>
                  <a:srgbClr val="555555"/>
                </a:solidFill>
                <a:latin typeface="Calibri"/>
              </a:rPr>
              <a:t>–  This includes the virus, the public health response, drug supply chain disruption, harm reduction service impacts, mental health service impacts, isolation, and the economic shock</a:t>
            </a:r>
          </a:p>
          <a:p>
            <a:pPr lvl="1"/>
            <a:r>
              <a:rPr sz="1200">
                <a:solidFill>
                  <a:srgbClr val="555555"/>
                </a:solidFill>
                <a:latin typeface="Calibri"/>
              </a:rPr>
              <a:t>–  These are downstream consequences of the pandemic, not independent causes</a:t>
            </a:r>
          </a:p>
          <a:p>
            <a:pPr/>
            <a:r>
              <a:rPr sz="1400">
                <a:solidFill>
                  <a:srgbClr val="1A1A1A"/>
                </a:solidFill>
                <a:latin typeface="Calibri"/>
              </a:rPr>
              <a:t>•  The analysis does NOT separate the virus from everything else the pandemic brought together</a:t>
            </a:r>
          </a:p>
          <a:p>
            <a:pPr lvl="1"/>
            <a:r>
              <a:rPr sz="1200">
                <a:solidFill>
                  <a:srgbClr val="555555"/>
                </a:solidFill>
                <a:latin typeface="Calibri"/>
              </a:rPr>
              <a:t>–  What share came from supply versus services versus isolation versus economic shock is a separate, mechanism-level question</a:t>
            </a:r>
          </a:p>
          <a:p>
            <a:pPr lvl="1"/>
            <a:r>
              <a:rPr sz="1200">
                <a:solidFill>
                  <a:srgbClr val="555555"/>
                </a:solidFill>
                <a:latin typeface="Calibri"/>
              </a:rPr>
              <a:t>–  Comparing Alberta to other provinces would not solve this, because all provinces faced COVID and its policy response at the same time</a:t>
            </a:r>
          </a:p>
          <a:p>
            <a:pPr/>
            <a:r>
              <a:rPr sz="1400">
                <a:solidFill>
                  <a:srgbClr val="1A1A1A"/>
                </a:solidFill>
                <a:latin typeface="Calibri"/>
              </a:rPr>
              <a:t>•  For Recovery Model performance measurement, the baseline matters</a:t>
            </a:r>
          </a:p>
          <a:p>
            <a:pPr lvl="1"/>
            <a:r>
              <a:rPr sz="1200">
                <a:solidFill>
                  <a:srgbClr val="555555"/>
                </a:solidFill>
                <a:latin typeface="Calibri"/>
              </a:rPr>
              <a:t>–  The post-COVID baseline is roughly double the pre-COVID baseline</a:t>
            </a:r>
          </a:p>
          <a:p>
            <a:pPr lvl="1"/>
            <a:r>
              <a:rPr sz="1200">
                <a:solidFill>
                  <a:srgbClr val="555555"/>
                </a:solidFill>
                <a:latin typeface="Calibri"/>
              </a:rPr>
              <a:t>–  Any 'return to baseline' framing needs to be explicit about which baseline</a:t>
            </a:r>
          </a:p>
          <a:p>
            <a:pPr lvl="1"/>
            <a:r>
              <a:rPr sz="1200">
                <a:solidFill>
                  <a:srgbClr val="555555"/>
                </a:solidFill>
                <a:latin typeface="Calibri"/>
              </a:rPr>
              <a:t>–  The post-COVID trajectory is already declining since 2024, suggesting a real recovery is underway</a:t>
            </a:r>
          </a:p>
        </p:txBody>
      </p:sp>
      <p:sp>
        <p:nvSpPr>
          <p:cNvPr id="5" name="TextBox 4"/>
          <p:cNvSpPr txBox="1"/>
          <p:nvPr/>
        </p:nvSpPr>
        <p:spPr>
          <a:xfrm>
            <a:off x="548640" y="6446520"/>
            <a:ext cx="10058400" cy="274320"/>
          </a:xfrm>
          <a:prstGeom prst="rect">
            <a:avLst/>
          </a:prstGeom>
          <a:noFill/>
        </p:spPr>
        <p:txBody>
          <a:bodyPr wrap="none">
            <a:spAutoFit/>
          </a:bodyPr>
          <a:lstStyle/>
          <a:p>
            <a:r>
              <a:rPr sz="900">
                <a:solidFill>
                  <a:srgbClr val="999999"/>
                </a:solidFill>
                <a:latin typeface="Calibri"/>
              </a:rPr>
              <a:t>Alberta opioid mortality around COVID-19  |  independent project</a:t>
            </a:r>
          </a:p>
        </p:txBody>
      </p:sp>
      <p:sp>
        <p:nvSpPr>
          <p:cNvPr id="6" name="TextBox 5"/>
          <p:cNvSpPr txBox="1"/>
          <p:nvPr/>
        </p:nvSpPr>
        <p:spPr>
          <a:xfrm>
            <a:off x="11521440" y="6446520"/>
            <a:ext cx="548640" cy="274320"/>
          </a:xfrm>
          <a:prstGeom prst="rect">
            <a:avLst/>
          </a:prstGeom>
          <a:noFill/>
        </p:spPr>
        <p:txBody>
          <a:bodyPr wrap="none">
            <a:spAutoFit/>
          </a:bodyPr>
          <a:lstStyle/>
          <a:p>
            <a:pPr algn="r"/>
            <a:r>
              <a:rPr sz="1000">
                <a:solidFill>
                  <a:srgbClr val="999999"/>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r>
              <a:rPr sz="2600" b="1">
                <a:solidFill>
                  <a:srgbClr val="000000"/>
                </a:solidFill>
                <a:latin typeface="Calibri"/>
              </a:rPr>
              <a:t>Limitations and Next Steps</a:t>
            </a:r>
          </a:p>
        </p:txBody>
      </p:sp>
      <p:cxnSp>
        <p:nvCxnSpPr>
          <p:cNvPr id="3" name="Connector 2"/>
          <p:cNvCxnSpPr/>
          <p:nvPr/>
        </p:nvCxnSpPr>
        <p:spPr>
          <a:xfrm>
            <a:off x="548640" y="960120"/>
            <a:ext cx="11064240"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1371600"/>
            <a:ext cx="10972800" cy="4572000"/>
          </a:xfrm>
          <a:prstGeom prst="rect">
            <a:avLst/>
          </a:prstGeom>
          <a:noFill/>
        </p:spPr>
        <p:txBody>
          <a:bodyPr wrap="square">
            <a:spAutoFit/>
          </a:bodyPr>
          <a:lstStyle/>
          <a:p>
            <a:pPr/>
            <a:r>
              <a:rPr sz="1400">
                <a:solidFill>
                  <a:srgbClr val="1A1A1A"/>
                </a:solidFill>
                <a:latin typeface="Calibri"/>
              </a:rPr>
              <a:t>•  Limitations</a:t>
            </a:r>
          </a:p>
          <a:p>
            <a:pPr lvl="1"/>
            <a:r>
              <a:rPr sz="1200">
                <a:solidFill>
                  <a:srgbClr val="555555"/>
                </a:solidFill>
                <a:latin typeface="Calibri"/>
              </a:rPr>
              <a:t>–  Single province, single outcome (opioid deaths) - no decomposition by substance type, age, sex, or zone</a:t>
            </a:r>
          </a:p>
          <a:p>
            <a:pPr lvl="1"/>
            <a:r>
              <a:rPr sz="1200">
                <a:solidFill>
                  <a:srgbClr val="555555"/>
                </a:solidFill>
                <a:latin typeface="Calibri"/>
              </a:rPr>
              <a:t>–  Quarterly data is small for inference (39 observations); reliance on robustness checks rather than asymptotic theory alone</a:t>
            </a:r>
          </a:p>
          <a:p>
            <a:pPr lvl="1"/>
            <a:r>
              <a:rPr sz="1200">
                <a:solidFill>
                  <a:srgbClr val="555555"/>
                </a:solidFill>
                <a:latin typeface="Calibri"/>
              </a:rPr>
              <a:t>–  Reporting lag and revisions: the most recent quarters may move as data is updated</a:t>
            </a:r>
          </a:p>
          <a:p>
            <a:pPr/>
            <a:r>
              <a:rPr sz="1400">
                <a:solidFill>
                  <a:srgbClr val="1A1A1A"/>
                </a:solidFill>
                <a:latin typeface="Calibri"/>
              </a:rPr>
              <a:t>•  Realistic next analytical work</a:t>
            </a:r>
          </a:p>
          <a:p>
            <a:pPr lvl="1"/>
            <a:r>
              <a:rPr sz="1200">
                <a:solidFill>
                  <a:srgbClr val="555555"/>
                </a:solidFill>
                <a:latin typeface="Calibri"/>
              </a:rPr>
              <a:t>–  Mechanism decomposition: bring in supply-side, service-capacity, and outcome data to attribute share to each channel</a:t>
            </a:r>
          </a:p>
          <a:p>
            <a:pPr lvl="1"/>
            <a:r>
              <a:rPr sz="1200">
                <a:solidFill>
                  <a:srgbClr val="555555"/>
                </a:solidFill>
                <a:latin typeface="Calibri"/>
              </a:rPr>
              <a:t>–  Heterogeneity: by age, sex, zone, and substance type (fentanyl, carfentanil, other)</a:t>
            </a:r>
          </a:p>
          <a:p>
            <a:pPr lvl="1"/>
            <a:r>
              <a:rPr sz="1200">
                <a:solidFill>
                  <a:srgbClr val="555555"/>
                </a:solidFill>
                <a:latin typeface="Calibri"/>
              </a:rPr>
              <a:t>–  Post-period dynamics: model the rise-to-peak-and-decline shape directly</a:t>
            </a:r>
          </a:p>
          <a:p>
            <a:pPr lvl="1"/>
            <a:r>
              <a:rPr sz="1200">
                <a:solidFill>
                  <a:srgbClr val="555555"/>
                </a:solidFill>
                <a:latin typeface="Calibri"/>
              </a:rPr>
              <a:t>–  Cumulative excess deaths through end-of-sample as a policy-relevant total</a:t>
            </a:r>
          </a:p>
          <a:p>
            <a:pPr/>
            <a:r>
              <a:rPr sz="1400">
                <a:solidFill>
                  <a:srgbClr val="1A1A1A"/>
                </a:solidFill>
                <a:latin typeface="Calibri"/>
              </a:rPr>
              <a:t>•  Code, data, and full documentation</a:t>
            </a:r>
          </a:p>
          <a:p>
            <a:pPr lvl="1"/>
            <a:r>
              <a:rPr sz="1200">
                <a:solidFill>
                  <a:srgbClr val="555555"/>
                </a:solidFill>
                <a:latin typeface="Calibri"/>
              </a:rPr>
              <a:t>–  github.com/Adilbek123/alberta-substance-use-trends</a:t>
            </a:r>
          </a:p>
        </p:txBody>
      </p:sp>
      <p:sp>
        <p:nvSpPr>
          <p:cNvPr id="5" name="TextBox 4"/>
          <p:cNvSpPr txBox="1"/>
          <p:nvPr/>
        </p:nvSpPr>
        <p:spPr>
          <a:xfrm>
            <a:off x="548640" y="6446520"/>
            <a:ext cx="10058400" cy="274320"/>
          </a:xfrm>
          <a:prstGeom prst="rect">
            <a:avLst/>
          </a:prstGeom>
          <a:noFill/>
        </p:spPr>
        <p:txBody>
          <a:bodyPr wrap="none">
            <a:spAutoFit/>
          </a:bodyPr>
          <a:lstStyle/>
          <a:p>
            <a:r>
              <a:rPr sz="900">
                <a:solidFill>
                  <a:srgbClr val="999999"/>
                </a:solidFill>
                <a:latin typeface="Calibri"/>
              </a:rPr>
              <a:t>Alberta opioid mortality around COVID-19  |  independent project</a:t>
            </a:r>
          </a:p>
        </p:txBody>
      </p:sp>
      <p:sp>
        <p:nvSpPr>
          <p:cNvPr id="6" name="TextBox 5"/>
          <p:cNvSpPr txBox="1"/>
          <p:nvPr/>
        </p:nvSpPr>
        <p:spPr>
          <a:xfrm>
            <a:off x="11521440" y="6446520"/>
            <a:ext cx="548640" cy="274320"/>
          </a:xfrm>
          <a:prstGeom prst="rect">
            <a:avLst/>
          </a:prstGeom>
          <a:noFill/>
        </p:spPr>
        <p:txBody>
          <a:bodyPr wrap="none">
            <a:spAutoFit/>
          </a:bodyPr>
          <a:lstStyle/>
          <a:p>
            <a:pPr algn="r"/>
            <a:r>
              <a:rPr sz="1000">
                <a:solidFill>
                  <a:srgbClr val="999999"/>
                </a:solidFill>
                <a:latin typeface="Calibri"/>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